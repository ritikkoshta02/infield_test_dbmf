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handoutMasterIdLst>
    <p:handoutMasterId r:id="rId30"/>
  </p:handoutMasterIdLst>
  <p:sldIdLst>
    <p:sldId id="256" r:id="rId2"/>
    <p:sldId id="257" r:id="rId3"/>
    <p:sldId id="258" r:id="rId4"/>
    <p:sldId id="259" r:id="rId5"/>
    <p:sldId id="260" r:id="rId6"/>
    <p:sldId id="262" r:id="rId7"/>
    <p:sldId id="263" r:id="rId8"/>
    <p:sldId id="264" r:id="rId9"/>
    <p:sldId id="288" r:id="rId10"/>
    <p:sldId id="265" r:id="rId11"/>
    <p:sldId id="267" r:id="rId12"/>
    <p:sldId id="268" r:id="rId13"/>
    <p:sldId id="269" r:id="rId14"/>
    <p:sldId id="270" r:id="rId15"/>
    <p:sldId id="272" r:id="rId16"/>
    <p:sldId id="283" r:id="rId17"/>
    <p:sldId id="284" r:id="rId18"/>
    <p:sldId id="285" r:id="rId19"/>
    <p:sldId id="282" r:id="rId20"/>
    <p:sldId id="287" r:id="rId21"/>
    <p:sldId id="273" r:id="rId22"/>
    <p:sldId id="286" r:id="rId23"/>
    <p:sldId id="274" r:id="rId24"/>
    <p:sldId id="276" r:id="rId25"/>
    <p:sldId id="279" r:id="rId26"/>
    <p:sldId id="277" r:id="rId27"/>
    <p:sldId id="2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769" autoAdjust="0"/>
  </p:normalViewPr>
  <p:slideViewPr>
    <p:cSldViewPr snapToGrid="0">
      <p:cViewPr varScale="1">
        <p:scale>
          <a:sx n="71" d="100"/>
          <a:sy n="71" d="100"/>
        </p:scale>
        <p:origin x="514"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98495-D093-41E4-AA12-BC8C044C5777}" type="datetimeFigureOut">
              <a:rPr lang="en-IN" smtClean="0"/>
              <a:t>13-06-2025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smtClean="0"/>
              <a:t>Ritik Kumar Koshta</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5C8246-6E4E-4536-B2B6-2DEE45345087}" type="slidenum">
              <a:rPr lang="en-IN" smtClean="0"/>
              <a:t>‹#›</a:t>
            </a:fld>
            <a:endParaRPr lang="en-IN"/>
          </a:p>
        </p:txBody>
      </p:sp>
    </p:spTree>
    <p:extLst>
      <p:ext uri="{BB962C8B-B14F-4D97-AF65-F5344CB8AC3E}">
        <p14:creationId xmlns:p14="http://schemas.microsoft.com/office/powerpoint/2010/main" val="27919986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538879-85B8-4CCC-8C35-ED5401DD925B}" type="datetimeFigureOut">
              <a:rPr lang="en-IN" smtClean="0"/>
              <a:t>13-06-2025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smtClean="0"/>
              <a:t>Ritik Kumar Koshta</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3A72ED-83FD-4BF9-A7C9-256179F16131}" type="slidenum">
              <a:rPr lang="en-IN" smtClean="0"/>
              <a:t>‹#›</a:t>
            </a:fld>
            <a:endParaRPr lang="en-IN"/>
          </a:p>
        </p:txBody>
      </p:sp>
    </p:spTree>
    <p:extLst>
      <p:ext uri="{BB962C8B-B14F-4D97-AF65-F5344CB8AC3E}">
        <p14:creationId xmlns:p14="http://schemas.microsoft.com/office/powerpoint/2010/main" val="17476615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Show examples of footprint edges</a:t>
            </a:r>
          </a:p>
          <a:p>
            <a:endParaRPr lang="en-IN" dirty="0" smtClean="0"/>
          </a:p>
          <a:p>
            <a:r>
              <a:rPr lang="en-IN" dirty="0" smtClean="0"/>
              <a:t>Assay footprint – define correctly (see papers) and</a:t>
            </a:r>
            <a:r>
              <a:rPr lang="en-IN" baseline="0" dirty="0" smtClean="0"/>
              <a:t> give example</a:t>
            </a:r>
            <a:endParaRPr lang="en-IN" dirty="0"/>
          </a:p>
        </p:txBody>
      </p:sp>
      <p:sp>
        <p:nvSpPr>
          <p:cNvPr id="4" name="Slide Number Placeholder 3"/>
          <p:cNvSpPr>
            <a:spLocks noGrp="1"/>
          </p:cNvSpPr>
          <p:nvPr>
            <p:ph type="sldNum" sz="quarter" idx="10"/>
          </p:nvPr>
        </p:nvSpPr>
        <p:spPr/>
        <p:txBody>
          <a:bodyPr/>
          <a:lstStyle/>
          <a:p>
            <a:fld id="{C43A72ED-83FD-4BF9-A7C9-256179F16131}" type="slidenum">
              <a:rPr lang="en-IN" smtClean="0"/>
              <a:t>5</a:t>
            </a:fld>
            <a:endParaRPr lang="en-IN"/>
          </a:p>
        </p:txBody>
      </p:sp>
    </p:spTree>
    <p:extLst>
      <p:ext uri="{BB962C8B-B14F-4D97-AF65-F5344CB8AC3E}">
        <p14:creationId xmlns:p14="http://schemas.microsoft.com/office/powerpoint/2010/main" val="1397599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This slide is ugly</a:t>
            </a:r>
            <a:endParaRPr lang="en-IN" dirty="0"/>
          </a:p>
        </p:txBody>
      </p:sp>
      <p:sp>
        <p:nvSpPr>
          <p:cNvPr id="4" name="Slide Number Placeholder 3"/>
          <p:cNvSpPr>
            <a:spLocks noGrp="1"/>
          </p:cNvSpPr>
          <p:nvPr>
            <p:ph type="sldNum" sz="quarter" idx="10"/>
          </p:nvPr>
        </p:nvSpPr>
        <p:spPr/>
        <p:txBody>
          <a:bodyPr/>
          <a:lstStyle/>
          <a:p>
            <a:fld id="{C43A72ED-83FD-4BF9-A7C9-256179F16131}" type="slidenum">
              <a:rPr lang="en-IN" smtClean="0"/>
              <a:t>8</a:t>
            </a:fld>
            <a:endParaRPr lang="en-IN"/>
          </a:p>
        </p:txBody>
      </p:sp>
    </p:spTree>
    <p:extLst>
      <p:ext uri="{BB962C8B-B14F-4D97-AF65-F5344CB8AC3E}">
        <p14:creationId xmlns:p14="http://schemas.microsoft.com/office/powerpoint/2010/main" val="2238141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43A72ED-83FD-4BF9-A7C9-256179F16131}" type="slidenum">
              <a:rPr lang="en-IN" smtClean="0"/>
              <a:t>9</a:t>
            </a:fld>
            <a:endParaRPr lang="en-IN"/>
          </a:p>
        </p:txBody>
      </p:sp>
    </p:spTree>
    <p:extLst>
      <p:ext uri="{BB962C8B-B14F-4D97-AF65-F5344CB8AC3E}">
        <p14:creationId xmlns:p14="http://schemas.microsoft.com/office/powerpoint/2010/main" val="319822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Merge Slide 13</a:t>
            </a:r>
            <a:r>
              <a:rPr lang="en-IN" baseline="0" dirty="0" smtClean="0"/>
              <a:t> and 14</a:t>
            </a:r>
            <a:endParaRPr lang="en-IN" dirty="0"/>
          </a:p>
        </p:txBody>
      </p:sp>
      <p:sp>
        <p:nvSpPr>
          <p:cNvPr id="4" name="Slide Number Placeholder 3"/>
          <p:cNvSpPr>
            <a:spLocks noGrp="1"/>
          </p:cNvSpPr>
          <p:nvPr>
            <p:ph type="sldNum" sz="quarter" idx="10"/>
          </p:nvPr>
        </p:nvSpPr>
        <p:spPr/>
        <p:txBody>
          <a:bodyPr/>
          <a:lstStyle/>
          <a:p>
            <a:fld id="{C43A72ED-83FD-4BF9-A7C9-256179F16131}" type="slidenum">
              <a:rPr lang="en-IN" smtClean="0"/>
              <a:t>12</a:t>
            </a:fld>
            <a:endParaRPr lang="en-IN"/>
          </a:p>
        </p:txBody>
      </p:sp>
    </p:spTree>
    <p:extLst>
      <p:ext uri="{BB962C8B-B14F-4D97-AF65-F5344CB8AC3E}">
        <p14:creationId xmlns:p14="http://schemas.microsoft.com/office/powerpoint/2010/main" val="2020699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F75D511-35FF-4C0B-98C3-A2268064F694}"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1020798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708084D-8C1C-40F3-9324-D160108BDF7D}"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3395935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5B30156-0FB7-4D78-B029-A70F807C7BB7}"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706350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C8A32CB-DB3F-4F66-B54B-F603FBD47384}" type="datetime3">
              <a:rPr lang="en-IN" smtClean="0"/>
              <a:t>13 June 2025</a:t>
            </a:fld>
            <a:endParaRPr lang="en-IN"/>
          </a:p>
        </p:txBody>
      </p:sp>
      <p:sp>
        <p:nvSpPr>
          <p:cNvPr id="6" name="Footer Placeholder 5"/>
          <p:cNvSpPr>
            <a:spLocks noGrp="1"/>
          </p:cNvSpPr>
          <p:nvPr>
            <p:ph type="ftr" sz="quarter" idx="11"/>
          </p:nvPr>
        </p:nvSpPr>
        <p:spPr/>
        <p:txBody>
          <a:bodyPr/>
          <a:lstStyle/>
          <a:p>
            <a:r>
              <a:rPr lang="en-IN" smtClean="0"/>
              <a:t>In-Field Testing of DMB</a:t>
            </a:r>
            <a:endParaRPr lang="en-IN"/>
          </a:p>
        </p:txBody>
      </p:sp>
      <p:sp>
        <p:nvSpPr>
          <p:cNvPr id="7" name="Slide Number Placeholder 6"/>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3866956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950D93F-829F-4315-9AAD-DDD671654A5A}" type="datetime3">
              <a:rPr lang="en-IN" smtClean="0"/>
              <a:t>13 June 2025</a:t>
            </a:fld>
            <a:endParaRPr lang="en-IN"/>
          </a:p>
        </p:txBody>
      </p:sp>
      <p:sp>
        <p:nvSpPr>
          <p:cNvPr id="8" name="Footer Placeholder 7"/>
          <p:cNvSpPr>
            <a:spLocks noGrp="1"/>
          </p:cNvSpPr>
          <p:nvPr>
            <p:ph type="ftr" sz="quarter" idx="11"/>
          </p:nvPr>
        </p:nvSpPr>
        <p:spPr/>
        <p:txBody>
          <a:bodyPr/>
          <a:lstStyle/>
          <a:p>
            <a:r>
              <a:rPr lang="en-IN" smtClean="0"/>
              <a:t>In-Field Testing of DMB</a:t>
            </a:r>
            <a:endParaRPr lang="en-IN"/>
          </a:p>
        </p:txBody>
      </p:sp>
      <p:sp>
        <p:nvSpPr>
          <p:cNvPr id="9" name="Slide Number Placeholder 8"/>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1459535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297FFD6-0586-471B-9B66-F4B4BDB8E14C}" type="datetime3">
              <a:rPr lang="en-IN" smtClean="0"/>
              <a:t>13 June 2025</a:t>
            </a:fld>
            <a:endParaRPr lang="en-IN"/>
          </a:p>
        </p:txBody>
      </p:sp>
      <p:sp>
        <p:nvSpPr>
          <p:cNvPr id="4" name="Footer Placeholder 3"/>
          <p:cNvSpPr>
            <a:spLocks noGrp="1"/>
          </p:cNvSpPr>
          <p:nvPr>
            <p:ph type="ftr" sz="quarter" idx="11"/>
          </p:nvPr>
        </p:nvSpPr>
        <p:spPr/>
        <p:txBody>
          <a:bodyPr/>
          <a:lstStyle/>
          <a:p>
            <a:r>
              <a:rPr lang="en-IN" smtClean="0"/>
              <a:t>In-Field Testing of DMB</a:t>
            </a:r>
            <a:endParaRPr lang="en-IN"/>
          </a:p>
        </p:txBody>
      </p:sp>
      <p:sp>
        <p:nvSpPr>
          <p:cNvPr id="5" name="Slide Number Placeholder 4"/>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1385134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ECF5DC-E4C8-471E-B122-6D485A8075C5}" type="datetime3">
              <a:rPr lang="en-IN" smtClean="0"/>
              <a:t>13 June 2025</a:t>
            </a:fld>
            <a:endParaRPr lang="en-IN"/>
          </a:p>
        </p:txBody>
      </p:sp>
      <p:sp>
        <p:nvSpPr>
          <p:cNvPr id="3" name="Footer Placeholder 2"/>
          <p:cNvSpPr>
            <a:spLocks noGrp="1"/>
          </p:cNvSpPr>
          <p:nvPr>
            <p:ph type="ftr" sz="quarter" idx="11"/>
          </p:nvPr>
        </p:nvSpPr>
        <p:spPr/>
        <p:txBody>
          <a:bodyPr/>
          <a:lstStyle/>
          <a:p>
            <a:r>
              <a:rPr lang="en-IN" smtClean="0"/>
              <a:t>In-Field Testing of DMB</a:t>
            </a:r>
            <a:endParaRPr lang="en-IN"/>
          </a:p>
        </p:txBody>
      </p:sp>
      <p:sp>
        <p:nvSpPr>
          <p:cNvPr id="4" name="Slide Number Placeholder 3"/>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3167147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33D5652-FEFC-4506-8C71-384EBE628EF3}" type="datetime3">
              <a:rPr lang="en-IN" smtClean="0"/>
              <a:t>13 June 2025</a:t>
            </a:fld>
            <a:endParaRPr lang="en-IN"/>
          </a:p>
        </p:txBody>
      </p:sp>
      <p:sp>
        <p:nvSpPr>
          <p:cNvPr id="6" name="Footer Placeholder 5"/>
          <p:cNvSpPr>
            <a:spLocks noGrp="1"/>
          </p:cNvSpPr>
          <p:nvPr>
            <p:ph type="ftr" sz="quarter" idx="11"/>
          </p:nvPr>
        </p:nvSpPr>
        <p:spPr/>
        <p:txBody>
          <a:bodyPr/>
          <a:lstStyle/>
          <a:p>
            <a:r>
              <a:rPr lang="en-IN" smtClean="0"/>
              <a:t>In-Field Testing of DMB</a:t>
            </a:r>
            <a:endParaRPr lang="en-IN"/>
          </a:p>
        </p:txBody>
      </p:sp>
      <p:sp>
        <p:nvSpPr>
          <p:cNvPr id="7" name="Slide Number Placeholder 6"/>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1727460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DEB3E6A-BB94-4856-A6EE-62EDFF2EAFBC}" type="datetime3">
              <a:rPr lang="en-IN" smtClean="0"/>
              <a:t>13 June 2025</a:t>
            </a:fld>
            <a:endParaRPr lang="en-IN"/>
          </a:p>
        </p:txBody>
      </p:sp>
      <p:sp>
        <p:nvSpPr>
          <p:cNvPr id="6" name="Footer Placeholder 5"/>
          <p:cNvSpPr>
            <a:spLocks noGrp="1"/>
          </p:cNvSpPr>
          <p:nvPr>
            <p:ph type="ftr" sz="quarter" idx="11"/>
          </p:nvPr>
        </p:nvSpPr>
        <p:spPr/>
        <p:txBody>
          <a:bodyPr/>
          <a:lstStyle/>
          <a:p>
            <a:r>
              <a:rPr lang="en-IN" smtClean="0"/>
              <a:t>In-Field Testing of DMB</a:t>
            </a:r>
            <a:endParaRPr lang="en-IN"/>
          </a:p>
        </p:txBody>
      </p:sp>
      <p:sp>
        <p:nvSpPr>
          <p:cNvPr id="7" name="Slide Number Placeholder 6"/>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3821953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1135713-890A-4E21-8D99-090D46D43CDB}"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51346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E81F2E1-C4CB-42D3-B854-98084C2B69CA}"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a:t>
            </a:fld>
            <a:endParaRPr lang="en-IN"/>
          </a:p>
        </p:txBody>
      </p:sp>
    </p:spTree>
    <p:extLst>
      <p:ext uri="{BB962C8B-B14F-4D97-AF65-F5344CB8AC3E}">
        <p14:creationId xmlns:p14="http://schemas.microsoft.com/office/powerpoint/2010/main" val="1686895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7601E3-051D-45B8-9F45-07A0E4018EA0}" type="datetime3">
              <a:rPr lang="en-IN" smtClean="0"/>
              <a:t>13 June 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smtClean="0"/>
              <a:t>In-Field Testing of DMB</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4D6369-262A-4935-8BA4-DEA08C81E600}" type="slidenum">
              <a:rPr lang="en-IN" smtClean="0"/>
              <a:t>‹#›</a:t>
            </a:fld>
            <a:endParaRPr lang="en-IN"/>
          </a:p>
        </p:txBody>
      </p:sp>
    </p:spTree>
    <p:extLst>
      <p:ext uri="{BB962C8B-B14F-4D97-AF65-F5344CB8AC3E}">
        <p14:creationId xmlns:p14="http://schemas.microsoft.com/office/powerpoint/2010/main" val="780044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0"/>
            <a:ext cx="9144000" cy="1575655"/>
          </a:xfrm>
        </p:spPr>
        <p:txBody>
          <a:bodyPr>
            <a:normAutofit/>
          </a:bodyPr>
          <a:lstStyle/>
          <a:p>
            <a:r>
              <a:rPr lang="en-US" sz="3200" b="1" dirty="0">
                <a:latin typeface="Arial" panose="020B0604020202020204" pitchFamily="34" charset="0"/>
                <a:cs typeface="Arial" panose="020B0604020202020204" pitchFamily="34" charset="0"/>
              </a:rPr>
              <a:t>In-Field Testing of Digital Microfluidic Biochips using Multi-Agent Reinforcement Learning</a:t>
            </a:r>
            <a:endParaRPr lang="en-IN" sz="3200" dirty="0"/>
          </a:p>
        </p:txBody>
      </p:sp>
      <p:sp>
        <p:nvSpPr>
          <p:cNvPr id="3" name="Subtitle 2"/>
          <p:cNvSpPr>
            <a:spLocks noGrp="1"/>
          </p:cNvSpPr>
          <p:nvPr>
            <p:ph type="subTitle" idx="1"/>
          </p:nvPr>
        </p:nvSpPr>
        <p:spPr>
          <a:xfrm>
            <a:off x="1523999" y="4298777"/>
            <a:ext cx="9144000" cy="1655762"/>
          </a:xfrm>
        </p:spPr>
        <p:txBody>
          <a:bodyPr>
            <a:noAutofit/>
          </a:bodyPr>
          <a:lstStyle/>
          <a:p>
            <a:r>
              <a:rPr lang="en-IN" sz="2000" b="1" dirty="0" smtClean="0"/>
              <a:t>Ritik Kumar Koshta (234101044)</a:t>
            </a:r>
          </a:p>
          <a:p>
            <a:r>
              <a:rPr lang="en-IN" sz="2000" b="1" dirty="0" smtClean="0"/>
              <a:t>Supervisor: Dr. Sukanta Bhattacharjee</a:t>
            </a:r>
          </a:p>
          <a:p>
            <a:r>
              <a:rPr lang="en-IN" sz="2000" b="1" dirty="0" smtClean="0"/>
              <a:t>DEPARTMENT OF COMPUTER SCIENCE AND ENGINEERING</a:t>
            </a:r>
          </a:p>
          <a:p>
            <a:r>
              <a:rPr lang="en-IN" sz="2000" b="1" dirty="0" smtClean="0"/>
              <a:t>INDIAN INSTITUTE OF TECHNOLOGY GUWAHATI </a:t>
            </a:r>
          </a:p>
          <a:p>
            <a:r>
              <a:rPr lang="en-IN" sz="2000" b="1" dirty="0" smtClean="0"/>
              <a:t>GUWAHATI- 781039, ASSAM </a:t>
            </a:r>
            <a:endParaRPr lang="en-IN" sz="2000" b="1" dirty="0"/>
          </a:p>
        </p:txBody>
      </p:sp>
      <p:pic>
        <p:nvPicPr>
          <p:cNvPr id="4" name="Picture 4" descr="IIT Guwahati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3962" y="1744317"/>
            <a:ext cx="2124075" cy="2152650"/>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3ADD201C-8ED2-4914-9832-AA3228D3A1B6}" type="datetime3">
              <a:rPr lang="en-IN" smtClean="0"/>
              <a:t>13 June 2025</a:t>
            </a:fld>
            <a:endParaRPr lang="en-IN" dirty="0"/>
          </a:p>
        </p:txBody>
      </p:sp>
      <p:sp>
        <p:nvSpPr>
          <p:cNvPr id="6" name="Footer Placeholder 5"/>
          <p:cNvSpPr>
            <a:spLocks noGrp="1"/>
          </p:cNvSpPr>
          <p:nvPr>
            <p:ph type="ftr" sz="quarter" idx="11"/>
          </p:nvPr>
        </p:nvSpPr>
        <p:spPr/>
        <p:txBody>
          <a:bodyPr/>
          <a:lstStyle/>
          <a:p>
            <a:r>
              <a:rPr lang="en-IN" dirty="0" smtClean="0"/>
              <a:t>In-Field Testing of DMB</a:t>
            </a:r>
            <a:endParaRPr lang="en-IN" dirty="0"/>
          </a:p>
        </p:txBody>
      </p:sp>
      <p:sp>
        <p:nvSpPr>
          <p:cNvPr id="7" name="Slide Number Placeholder 6"/>
          <p:cNvSpPr>
            <a:spLocks noGrp="1"/>
          </p:cNvSpPr>
          <p:nvPr>
            <p:ph type="sldNum" sz="quarter" idx="12"/>
          </p:nvPr>
        </p:nvSpPr>
        <p:spPr/>
        <p:txBody>
          <a:bodyPr/>
          <a:lstStyle/>
          <a:p>
            <a:fld id="{AF4D6369-262A-4935-8BA4-DEA08C81E600}" type="slidenum">
              <a:rPr lang="en-IN" smtClean="0"/>
              <a:t>1</a:t>
            </a:fld>
            <a:endParaRPr lang="en-IN" dirty="0"/>
          </a:p>
        </p:txBody>
      </p:sp>
    </p:spTree>
    <p:extLst>
      <p:ext uri="{BB962C8B-B14F-4D97-AF65-F5344CB8AC3E}">
        <p14:creationId xmlns:p14="http://schemas.microsoft.com/office/powerpoint/2010/main" val="29638782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51063"/>
            <a:ext cx="10515600" cy="4351338"/>
          </a:xfrm>
        </p:spPr>
        <p:txBody>
          <a:bodyPr/>
          <a:lstStyle/>
          <a:p>
            <a:r>
              <a:rPr lang="en-US" dirty="0"/>
              <a:t> Introduction to Digital Microfluidic Biochips (DMBs)</a:t>
            </a:r>
          </a:p>
          <a:p>
            <a:r>
              <a:rPr lang="en-US" dirty="0"/>
              <a:t> </a:t>
            </a:r>
            <a:r>
              <a:rPr lang="en-US" dirty="0" smtClean="0"/>
              <a:t>Related </a:t>
            </a:r>
            <a:r>
              <a:rPr lang="en-US" dirty="0"/>
              <a:t>Definitions and Problem Formulation</a:t>
            </a:r>
          </a:p>
          <a:p>
            <a:r>
              <a:rPr lang="en-US" dirty="0"/>
              <a:t> </a:t>
            </a:r>
            <a:r>
              <a:rPr lang="en-US" dirty="0" smtClean="0"/>
              <a:t>Literature </a:t>
            </a:r>
            <a:r>
              <a:rPr lang="en-US" dirty="0"/>
              <a:t>Review</a:t>
            </a:r>
          </a:p>
          <a:p>
            <a:r>
              <a:rPr lang="en-US" dirty="0"/>
              <a:t> </a:t>
            </a:r>
            <a:r>
              <a:rPr lang="en-US" dirty="0" smtClean="0"/>
              <a:t>Background </a:t>
            </a:r>
            <a:r>
              <a:rPr lang="en-US" dirty="0"/>
              <a:t>of Reinforcement Learning</a:t>
            </a:r>
          </a:p>
          <a:p>
            <a:r>
              <a:rPr lang="en-US" dirty="0"/>
              <a:t> </a:t>
            </a:r>
            <a:r>
              <a:rPr lang="en-US" dirty="0" smtClean="0"/>
              <a:t>Reinforcement Learning based </a:t>
            </a:r>
            <a:r>
              <a:rPr lang="en-US" dirty="0"/>
              <a:t>In-Field </a:t>
            </a:r>
            <a:r>
              <a:rPr lang="en-US" dirty="0" smtClean="0"/>
              <a:t>Testing</a:t>
            </a:r>
            <a:endParaRPr lang="en-US" dirty="0"/>
          </a:p>
          <a:p>
            <a:r>
              <a:rPr lang="en-US" dirty="0"/>
              <a:t> </a:t>
            </a:r>
            <a:r>
              <a:rPr lang="en-US" dirty="0" smtClean="0"/>
              <a:t>Experimental </a:t>
            </a:r>
            <a:r>
              <a:rPr lang="en-US" dirty="0"/>
              <a:t>Setup and Results</a:t>
            </a:r>
          </a:p>
          <a:p>
            <a:r>
              <a:rPr lang="en-US" dirty="0"/>
              <a:t> </a:t>
            </a:r>
            <a:r>
              <a:rPr lang="en-US" dirty="0" smtClean="0"/>
              <a:t>Conclusion</a:t>
            </a:r>
            <a:endParaRPr lang="en-US" dirty="0"/>
          </a:p>
          <a:p>
            <a:r>
              <a:rPr lang="en-US" dirty="0"/>
              <a:t> </a:t>
            </a:r>
            <a:r>
              <a:rPr lang="en-US" dirty="0" smtClean="0"/>
              <a:t>References</a:t>
            </a:r>
            <a:endParaRPr lang="en-IN" dirty="0"/>
          </a:p>
        </p:txBody>
      </p:sp>
      <p:sp>
        <p:nvSpPr>
          <p:cNvPr id="4" name="Date Placeholder 3"/>
          <p:cNvSpPr>
            <a:spLocks noGrp="1"/>
          </p:cNvSpPr>
          <p:nvPr>
            <p:ph type="dt" sz="half" idx="10"/>
          </p:nvPr>
        </p:nvSpPr>
        <p:spPr/>
        <p:txBody>
          <a:bodyPr/>
          <a:lstStyle/>
          <a:p>
            <a:fld id="{547985EB-E491-48ED-9A25-02F95863D730}" type="datetime3">
              <a:rPr lang="en-IN" smtClean="0"/>
              <a:t>13 June 2025</a:t>
            </a:fld>
            <a:endParaRPr lang="en-IN" dirty="0"/>
          </a:p>
        </p:txBody>
      </p:sp>
      <p:sp>
        <p:nvSpPr>
          <p:cNvPr id="5" name="Footer Placeholder 4"/>
          <p:cNvSpPr>
            <a:spLocks noGrp="1"/>
          </p:cNvSpPr>
          <p:nvPr>
            <p:ph type="ftr" sz="quarter" idx="11"/>
          </p:nvPr>
        </p:nvSpPr>
        <p:spPr/>
        <p:txBody>
          <a:bodyPr/>
          <a:lstStyle/>
          <a:p>
            <a:r>
              <a:rPr lang="en-IN" dirty="0" smtClean="0"/>
              <a:t>In-Field Testing of DMB</a:t>
            </a:r>
            <a:endParaRPr lang="en-IN" dirty="0"/>
          </a:p>
        </p:txBody>
      </p:sp>
      <p:sp>
        <p:nvSpPr>
          <p:cNvPr id="6" name="Slide Number Placeholder 5"/>
          <p:cNvSpPr>
            <a:spLocks noGrp="1"/>
          </p:cNvSpPr>
          <p:nvPr>
            <p:ph type="sldNum" sz="quarter" idx="12"/>
          </p:nvPr>
        </p:nvSpPr>
        <p:spPr/>
        <p:txBody>
          <a:bodyPr/>
          <a:lstStyle/>
          <a:p>
            <a:fld id="{AF4D6369-262A-4935-8BA4-DEA08C81E600}" type="slidenum">
              <a:rPr lang="en-IN" smtClean="0"/>
              <a:t>2</a:t>
            </a:fld>
            <a:endParaRPr lang="en-IN" dirty="0"/>
          </a:p>
        </p:txBody>
      </p:sp>
      <p:sp>
        <p:nvSpPr>
          <p:cNvPr id="8" name="Title 1"/>
          <p:cNvSpPr>
            <a:spLocks noGrp="1"/>
          </p:cNvSpPr>
          <p:nvPr>
            <p:ph type="title"/>
          </p:nvPr>
        </p:nvSpPr>
        <p:spPr>
          <a:xfrm>
            <a:off x="0" y="1"/>
            <a:ext cx="12192000" cy="876300"/>
          </a:xfrm>
        </p:spPr>
        <p:txBody>
          <a:bodyPr>
            <a:normAutofit/>
          </a:bodyPr>
          <a:lstStyle/>
          <a:p>
            <a:pPr algn="ctr"/>
            <a:r>
              <a:rPr lang="en-US" sz="4000" b="1" dirty="0" smtClean="0"/>
              <a:t>Presentation Overview</a:t>
            </a:r>
            <a:endParaRPr lang="en-IN" sz="4000" b="1" dirty="0"/>
          </a:p>
        </p:txBody>
      </p:sp>
      <p:pic>
        <p:nvPicPr>
          <p:cNvPr id="9" name="Picture 10" descr="Multiple drops on OpenDrop digital microfluidic device. - YouTube"/>
          <p:cNvPicPr>
            <a:picLocks noChangeAspect="1" noChangeArrowheads="1"/>
          </p:cNvPicPr>
          <p:nvPr/>
        </p:nvPicPr>
        <p:blipFill rotWithShape="1">
          <a:blip r:embed="rId2">
            <a:extLst>
              <a:ext uri="{28A0092B-C50C-407E-A947-70E740481C1C}">
                <a14:useLocalDpi xmlns:a14="http://schemas.microsoft.com/office/drawing/2010/main" val="0"/>
              </a:ext>
            </a:extLst>
          </a:blip>
          <a:srcRect l="15779"/>
          <a:stretch/>
        </p:blipFill>
        <p:spPr bwMode="auto">
          <a:xfrm>
            <a:off x="8011290" y="1958367"/>
            <a:ext cx="3490676" cy="23321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4073963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876300"/>
          </a:xfrm>
        </p:spPr>
        <p:txBody>
          <a:bodyPr>
            <a:normAutofit/>
          </a:bodyPr>
          <a:lstStyle/>
          <a:p>
            <a:pPr algn="ctr"/>
            <a:r>
              <a:rPr lang="en-US" sz="4000" b="1" dirty="0"/>
              <a:t>Introduction to Digital Microfluidic </a:t>
            </a:r>
            <a:r>
              <a:rPr lang="en-US" sz="4000" b="1" dirty="0" smtClean="0"/>
              <a:t>Biochips</a:t>
            </a:r>
            <a:endParaRPr lang="en-IN" sz="4000" b="1" dirty="0"/>
          </a:p>
        </p:txBody>
      </p:sp>
      <p:sp>
        <p:nvSpPr>
          <p:cNvPr id="3" name="Content Placeholder 2"/>
          <p:cNvSpPr>
            <a:spLocks noGrp="1"/>
          </p:cNvSpPr>
          <p:nvPr>
            <p:ph idx="1"/>
          </p:nvPr>
        </p:nvSpPr>
        <p:spPr>
          <a:xfrm>
            <a:off x="685799" y="1012371"/>
            <a:ext cx="10531929" cy="4939021"/>
          </a:xfrm>
        </p:spPr>
        <p:txBody>
          <a:bodyPr>
            <a:normAutofit/>
          </a:bodyPr>
          <a:lstStyle/>
          <a:p>
            <a:r>
              <a:rPr lang="en-IN" sz="2000" dirty="0" smtClean="0"/>
              <a:t>Programmable lab-on-chip </a:t>
            </a:r>
            <a:r>
              <a:rPr lang="en-IN" sz="2000" dirty="0"/>
              <a:t>platforms capable of manipulating discrete droplets </a:t>
            </a:r>
            <a:r>
              <a:rPr lang="en-IN" sz="2000" dirty="0" smtClean="0"/>
              <a:t>of fluid </a:t>
            </a:r>
            <a:r>
              <a:rPr lang="en-IN" sz="2000" dirty="0"/>
              <a:t>on a 2D electrode array using electrical </a:t>
            </a:r>
            <a:r>
              <a:rPr lang="en-IN" sz="2000" dirty="0" smtClean="0"/>
              <a:t>actuations.</a:t>
            </a:r>
          </a:p>
          <a:p>
            <a:endParaRPr lang="en-IN" sz="2000" b="1" dirty="0"/>
          </a:p>
          <a:p>
            <a:endParaRPr lang="en-IN" sz="2000" b="1" dirty="0" smtClean="0"/>
          </a:p>
          <a:p>
            <a:endParaRPr lang="en-IN" sz="2000" b="1" dirty="0" smtClean="0"/>
          </a:p>
          <a:p>
            <a:endParaRPr lang="en-IN" sz="2000" b="1" dirty="0" smtClean="0"/>
          </a:p>
          <a:p>
            <a:endParaRPr lang="en-IN" sz="2000" b="1" dirty="0" smtClean="0"/>
          </a:p>
          <a:p>
            <a:endParaRPr lang="en-IN" sz="2000" b="1" dirty="0"/>
          </a:p>
          <a:p>
            <a:endParaRPr lang="en-IN" sz="2000" dirty="0" smtClean="0"/>
          </a:p>
          <a:p>
            <a:r>
              <a:rPr lang="en-IN" sz="2000" b="1" dirty="0" smtClean="0"/>
              <a:t>Applications: </a:t>
            </a:r>
            <a:r>
              <a:rPr lang="en-IN" sz="2000" dirty="0" smtClean="0"/>
              <a:t>Point-of-Care diagnosis, nucleic </a:t>
            </a:r>
            <a:r>
              <a:rPr lang="en-IN" sz="2000" dirty="0"/>
              <a:t>acid </a:t>
            </a:r>
            <a:r>
              <a:rPr lang="en-IN" sz="2000" dirty="0" smtClean="0"/>
              <a:t>analysis, and </a:t>
            </a:r>
            <a:r>
              <a:rPr lang="en-IN" sz="2000" dirty="0"/>
              <a:t>cell-based </a:t>
            </a:r>
            <a:r>
              <a:rPr lang="en-IN" sz="2000" dirty="0" smtClean="0"/>
              <a:t>assays. </a:t>
            </a:r>
          </a:p>
          <a:p>
            <a:r>
              <a:rPr lang="en-IN" sz="2000" b="1" dirty="0" smtClean="0"/>
              <a:t>Technology: </a:t>
            </a:r>
            <a:r>
              <a:rPr lang="en-IN" sz="2000" dirty="0" err="1" smtClean="0"/>
              <a:t>Electrowetting</a:t>
            </a:r>
            <a:r>
              <a:rPr lang="en-IN" sz="2000" dirty="0" smtClean="0"/>
              <a:t>-on-dielectric (EWOD).</a:t>
            </a:r>
            <a:endParaRPr lang="en-IN" sz="2000" dirty="0"/>
          </a:p>
        </p:txBody>
      </p:sp>
      <p:sp>
        <p:nvSpPr>
          <p:cNvPr id="4" name="Date Placeholder 3"/>
          <p:cNvSpPr>
            <a:spLocks noGrp="1"/>
          </p:cNvSpPr>
          <p:nvPr>
            <p:ph type="dt" sz="half" idx="10"/>
          </p:nvPr>
        </p:nvSpPr>
        <p:spPr/>
        <p:txBody>
          <a:bodyPr/>
          <a:lstStyle/>
          <a:p>
            <a:fld id="{4368B651-A1E9-49FF-8E3F-ABA2EC00B75F}" type="datetime3">
              <a:rPr lang="en-IN" smtClean="0"/>
              <a:t>13 June 2025</a:t>
            </a:fld>
            <a:endParaRPr lang="en-IN" dirty="0"/>
          </a:p>
        </p:txBody>
      </p:sp>
      <p:sp>
        <p:nvSpPr>
          <p:cNvPr id="5" name="Footer Placeholder 4"/>
          <p:cNvSpPr>
            <a:spLocks noGrp="1"/>
          </p:cNvSpPr>
          <p:nvPr>
            <p:ph type="ftr" sz="quarter" idx="11"/>
          </p:nvPr>
        </p:nvSpPr>
        <p:spPr/>
        <p:txBody>
          <a:bodyPr/>
          <a:lstStyle/>
          <a:p>
            <a:r>
              <a:rPr lang="en-IN" dirty="0" smtClean="0"/>
              <a:t>In-Field Testing of DMB</a:t>
            </a:r>
            <a:endParaRPr lang="en-IN" dirty="0"/>
          </a:p>
        </p:txBody>
      </p:sp>
      <p:sp>
        <p:nvSpPr>
          <p:cNvPr id="6" name="Slide Number Placeholder 5"/>
          <p:cNvSpPr>
            <a:spLocks noGrp="1"/>
          </p:cNvSpPr>
          <p:nvPr>
            <p:ph type="sldNum" sz="quarter" idx="12"/>
          </p:nvPr>
        </p:nvSpPr>
        <p:spPr/>
        <p:txBody>
          <a:bodyPr/>
          <a:lstStyle/>
          <a:p>
            <a:fld id="{AF4D6369-262A-4935-8BA4-DEA08C81E600}" type="slidenum">
              <a:rPr lang="en-IN" smtClean="0"/>
              <a:t>3</a:t>
            </a:fld>
            <a:endParaRPr lang="en-IN"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8145" y="1789863"/>
            <a:ext cx="5584960" cy="2518707"/>
          </a:xfrm>
          <a:prstGeom prst="rect">
            <a:avLst/>
          </a:prstGeom>
        </p:spPr>
      </p:pic>
    </p:spTree>
    <p:extLst>
      <p:ext uri="{BB962C8B-B14F-4D97-AF65-F5344CB8AC3E}">
        <p14:creationId xmlns:p14="http://schemas.microsoft.com/office/powerpoint/2010/main" val="5036123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8329"/>
          </a:xfrm>
        </p:spPr>
        <p:txBody>
          <a:bodyPr>
            <a:normAutofit/>
          </a:bodyPr>
          <a:lstStyle/>
          <a:p>
            <a:pPr algn="ctr"/>
            <a:r>
              <a:rPr lang="en-US" sz="4000" b="1" dirty="0" smtClean="0"/>
              <a:t>DMB Testing</a:t>
            </a:r>
            <a:endParaRPr lang="en-IN" sz="4000" b="1" dirty="0"/>
          </a:p>
        </p:txBody>
      </p:sp>
      <p:sp>
        <p:nvSpPr>
          <p:cNvPr id="3" name="Content Placeholder 2"/>
          <p:cNvSpPr>
            <a:spLocks noGrp="1"/>
          </p:cNvSpPr>
          <p:nvPr>
            <p:ph idx="1"/>
          </p:nvPr>
        </p:nvSpPr>
        <p:spPr>
          <a:xfrm>
            <a:off x="244929" y="1021976"/>
            <a:ext cx="8412982" cy="5206976"/>
          </a:xfrm>
        </p:spPr>
        <p:txBody>
          <a:bodyPr>
            <a:normAutofit fontScale="92500"/>
          </a:bodyPr>
          <a:lstStyle/>
          <a:p>
            <a:r>
              <a:rPr lang="en-US" sz="2600" b="1" dirty="0" smtClean="0"/>
              <a:t>Why </a:t>
            </a:r>
            <a:r>
              <a:rPr lang="en-US" sz="2600" b="1" dirty="0"/>
              <a:t>Testing </a:t>
            </a:r>
            <a:r>
              <a:rPr lang="en-US" sz="2600" b="1" dirty="0" smtClean="0"/>
              <a:t>Matters?</a:t>
            </a:r>
          </a:p>
          <a:p>
            <a:pPr lvl="1"/>
            <a:r>
              <a:rPr lang="en-US" sz="2200" dirty="0" smtClean="0"/>
              <a:t>Ensuring </a:t>
            </a:r>
            <a:r>
              <a:rPr lang="en-US" sz="2200" dirty="0"/>
              <a:t>reliability is critical, especially for </a:t>
            </a:r>
            <a:r>
              <a:rPr lang="en-US" sz="2200" dirty="0" smtClean="0"/>
              <a:t>safety-critical bioassays</a:t>
            </a:r>
            <a:r>
              <a:rPr lang="en-US" sz="2200" dirty="0"/>
              <a:t>. </a:t>
            </a:r>
            <a:endParaRPr lang="en-US" sz="2200" dirty="0" smtClean="0"/>
          </a:p>
          <a:p>
            <a:pPr lvl="1"/>
            <a:r>
              <a:rPr lang="en-US" sz="2200" dirty="0" smtClean="0"/>
              <a:t>In-field </a:t>
            </a:r>
            <a:r>
              <a:rPr lang="en-US" sz="2200" dirty="0"/>
              <a:t>testing verifies functionality in real-time </a:t>
            </a:r>
            <a:r>
              <a:rPr lang="en-US" sz="2200" dirty="0" smtClean="0"/>
              <a:t>during assay </a:t>
            </a:r>
            <a:r>
              <a:rPr lang="en-US" sz="2200" dirty="0"/>
              <a:t>execution</a:t>
            </a:r>
            <a:r>
              <a:rPr lang="en-US" sz="2200" dirty="0" smtClean="0"/>
              <a:t>.</a:t>
            </a:r>
          </a:p>
          <a:p>
            <a:pPr>
              <a:lnSpc>
                <a:spcPct val="100000"/>
              </a:lnSpc>
            </a:pPr>
            <a:r>
              <a:rPr lang="en-US" sz="2600" b="1" dirty="0" smtClean="0">
                <a:cs typeface="Arial" panose="020B0604020202020204" pitchFamily="34" charset="0"/>
              </a:rPr>
              <a:t>Defects</a:t>
            </a:r>
            <a:r>
              <a:rPr lang="en-US" sz="2600" dirty="0" smtClean="0">
                <a:cs typeface="Arial" panose="020B0604020202020204" pitchFamily="34" charset="0"/>
              </a:rPr>
              <a:t>:</a:t>
            </a:r>
            <a:endParaRPr lang="en-US" sz="2600" dirty="0">
              <a:cs typeface="Arial" panose="020B0604020202020204" pitchFamily="34" charset="0"/>
            </a:endParaRPr>
          </a:p>
          <a:p>
            <a:pPr marL="457200" lvl="1" indent="0">
              <a:lnSpc>
                <a:spcPct val="100000"/>
              </a:lnSpc>
              <a:buNone/>
            </a:pPr>
            <a:r>
              <a:rPr lang="en-US" sz="2200" b="1" dirty="0">
                <a:cs typeface="Arial" panose="020B0604020202020204" pitchFamily="34" charset="0"/>
              </a:rPr>
              <a:t>Electrode Degradation</a:t>
            </a:r>
            <a:r>
              <a:rPr lang="en-US" sz="2200" dirty="0">
                <a:cs typeface="Arial" panose="020B0604020202020204" pitchFamily="34" charset="0"/>
              </a:rPr>
              <a:t>: Over time, electrodes experience wear due to:</a:t>
            </a:r>
          </a:p>
          <a:p>
            <a:pPr marL="914400" lvl="2" indent="0">
              <a:lnSpc>
                <a:spcPct val="100000"/>
              </a:lnSpc>
              <a:buNone/>
            </a:pPr>
            <a:r>
              <a:rPr lang="en-US" sz="2200" b="1" dirty="0" smtClean="0">
                <a:cs typeface="Arial" panose="020B0604020202020204" pitchFamily="34" charset="0"/>
              </a:rPr>
              <a:t>Residual charge</a:t>
            </a:r>
            <a:r>
              <a:rPr lang="en-US" sz="2200" dirty="0" smtClean="0">
                <a:cs typeface="Arial" panose="020B0604020202020204" pitchFamily="34" charset="0"/>
              </a:rPr>
              <a:t>: </a:t>
            </a:r>
            <a:r>
              <a:rPr lang="en-US" sz="2200" dirty="0">
                <a:cs typeface="Arial" panose="020B0604020202020204" pitchFamily="34" charset="0"/>
              </a:rPr>
              <a:t>Accumulated charges that hinder droplet movement.</a:t>
            </a:r>
          </a:p>
          <a:p>
            <a:pPr marL="914400" lvl="2" indent="0">
              <a:lnSpc>
                <a:spcPct val="100000"/>
              </a:lnSpc>
              <a:buNone/>
            </a:pPr>
            <a:r>
              <a:rPr lang="en-US" sz="2200" b="1" dirty="0" smtClean="0">
                <a:cs typeface="Arial" panose="020B0604020202020204" pitchFamily="34" charset="0"/>
              </a:rPr>
              <a:t>Trapped charge</a:t>
            </a:r>
            <a:r>
              <a:rPr lang="en-US" sz="2200" dirty="0" smtClean="0">
                <a:cs typeface="Arial" panose="020B0604020202020204" pitchFamily="34" charset="0"/>
              </a:rPr>
              <a:t>: </a:t>
            </a:r>
            <a:r>
              <a:rPr lang="en-US" sz="2200" dirty="0">
                <a:cs typeface="Arial" panose="020B0604020202020204" pitchFamily="34" charset="0"/>
              </a:rPr>
              <a:t>Permanent damage within the dielectric layer.</a:t>
            </a:r>
          </a:p>
          <a:p>
            <a:pPr marL="457200" lvl="1" indent="0">
              <a:lnSpc>
                <a:spcPct val="100000"/>
              </a:lnSpc>
              <a:buNone/>
            </a:pPr>
            <a:r>
              <a:rPr lang="en-US" sz="2200" b="1" dirty="0">
                <a:cs typeface="Arial" panose="020B0604020202020204" pitchFamily="34" charset="0"/>
              </a:rPr>
              <a:t>Droplet Transportation Failures:</a:t>
            </a:r>
            <a:endParaRPr lang="en-US" sz="2200" dirty="0">
              <a:cs typeface="Arial" panose="020B0604020202020204" pitchFamily="34" charset="0"/>
            </a:endParaRPr>
          </a:p>
          <a:p>
            <a:pPr marL="914400" lvl="2" indent="0">
              <a:lnSpc>
                <a:spcPct val="100000"/>
              </a:lnSpc>
              <a:buNone/>
            </a:pPr>
            <a:r>
              <a:rPr lang="en-US" sz="2200" dirty="0">
                <a:cs typeface="Arial" panose="020B0604020202020204" pitchFamily="34" charset="0"/>
              </a:rPr>
              <a:t>Movement </a:t>
            </a:r>
            <a:r>
              <a:rPr lang="en-US" sz="2200" dirty="0" smtClean="0">
                <a:cs typeface="Arial" panose="020B0604020202020204" pitchFamily="34" charset="0"/>
              </a:rPr>
              <a:t>is impeded </a:t>
            </a:r>
            <a:r>
              <a:rPr lang="en-US" sz="2200" dirty="0">
                <a:cs typeface="Arial" panose="020B0604020202020204" pitchFamily="34" charset="0"/>
              </a:rPr>
              <a:t>by degraded electrodes.</a:t>
            </a:r>
          </a:p>
          <a:p>
            <a:pPr marL="914400" lvl="2" indent="0">
              <a:lnSpc>
                <a:spcPct val="100000"/>
              </a:lnSpc>
              <a:buNone/>
            </a:pPr>
            <a:r>
              <a:rPr lang="en-US" sz="2200" dirty="0">
                <a:cs typeface="Arial" panose="020B0604020202020204" pitchFamily="34" charset="0"/>
              </a:rPr>
              <a:t>Increased chances of bioassay failure.</a:t>
            </a:r>
          </a:p>
          <a:p>
            <a:pPr marL="457200" lvl="1" indent="0">
              <a:lnSpc>
                <a:spcPct val="100000"/>
              </a:lnSpc>
              <a:buNone/>
            </a:pPr>
            <a:r>
              <a:rPr lang="en-US" sz="2200" b="1" dirty="0">
                <a:cs typeface="Arial" panose="020B0604020202020204" pitchFamily="34" charset="0"/>
              </a:rPr>
              <a:t>Risk of Contamination</a:t>
            </a:r>
            <a:endParaRPr lang="en-US" sz="2200" dirty="0">
              <a:cs typeface="Arial" panose="020B0604020202020204" pitchFamily="34" charset="0"/>
            </a:endParaRPr>
          </a:p>
          <a:p>
            <a:pPr marL="914400" lvl="2" indent="0">
              <a:lnSpc>
                <a:spcPct val="100000"/>
              </a:lnSpc>
              <a:buNone/>
            </a:pPr>
            <a:r>
              <a:rPr lang="en-US" sz="2200" dirty="0">
                <a:cs typeface="Arial" panose="020B0604020202020204" pitchFamily="34" charset="0"/>
              </a:rPr>
              <a:t>Unintended merging of droplets due to close proximity during routing</a:t>
            </a:r>
            <a:r>
              <a:rPr lang="en-US" sz="2200" dirty="0" smtClean="0">
                <a:cs typeface="Arial" panose="020B0604020202020204" pitchFamily="34" charset="0"/>
              </a:rPr>
              <a:t>.</a:t>
            </a:r>
            <a:endParaRPr lang="en-US" sz="3000" dirty="0">
              <a:cs typeface="Arial" panose="020B0604020202020204" pitchFamily="34" charset="0"/>
            </a:endParaRPr>
          </a:p>
        </p:txBody>
      </p:sp>
      <p:sp>
        <p:nvSpPr>
          <p:cNvPr id="4" name="Date Placeholder 3"/>
          <p:cNvSpPr>
            <a:spLocks noGrp="1"/>
          </p:cNvSpPr>
          <p:nvPr>
            <p:ph type="dt" sz="half" idx="10"/>
          </p:nvPr>
        </p:nvSpPr>
        <p:spPr/>
        <p:txBody>
          <a:bodyPr/>
          <a:lstStyle/>
          <a:p>
            <a:fld id="{B6F12933-1A0C-4C0F-A2CA-7635A93EF031}" type="datetime3">
              <a:rPr lang="en-IN" smtClean="0"/>
              <a:t>13 June 2025</a:t>
            </a:fld>
            <a:endParaRPr lang="en-IN" dirty="0"/>
          </a:p>
        </p:txBody>
      </p:sp>
      <p:sp>
        <p:nvSpPr>
          <p:cNvPr id="5" name="Footer Placeholder 4"/>
          <p:cNvSpPr>
            <a:spLocks noGrp="1"/>
          </p:cNvSpPr>
          <p:nvPr>
            <p:ph type="ftr" sz="quarter" idx="11"/>
          </p:nvPr>
        </p:nvSpPr>
        <p:spPr/>
        <p:txBody>
          <a:bodyPr/>
          <a:lstStyle/>
          <a:p>
            <a:r>
              <a:rPr lang="en-IN" dirty="0" smtClean="0"/>
              <a:t>In-Field Testing of DMB</a:t>
            </a:r>
            <a:endParaRPr lang="en-IN" dirty="0"/>
          </a:p>
        </p:txBody>
      </p:sp>
      <p:sp>
        <p:nvSpPr>
          <p:cNvPr id="6" name="Slide Number Placeholder 5"/>
          <p:cNvSpPr>
            <a:spLocks noGrp="1"/>
          </p:cNvSpPr>
          <p:nvPr>
            <p:ph type="sldNum" sz="quarter" idx="12"/>
          </p:nvPr>
        </p:nvSpPr>
        <p:spPr/>
        <p:txBody>
          <a:bodyPr/>
          <a:lstStyle/>
          <a:p>
            <a:fld id="{AF4D6369-262A-4935-8BA4-DEA08C81E600}" type="slidenum">
              <a:rPr lang="en-IN" smtClean="0"/>
              <a:t>4</a:t>
            </a:fld>
            <a:endParaRPr lang="en-IN" dirty="0"/>
          </a:p>
        </p:txBody>
      </p:sp>
      <p:pic>
        <p:nvPicPr>
          <p:cNvPr id="10" name="Picture 9"/>
          <p:cNvPicPr>
            <a:picLocks noChangeAspect="1"/>
          </p:cNvPicPr>
          <p:nvPr/>
        </p:nvPicPr>
        <p:blipFill>
          <a:blip r:embed="rId2"/>
          <a:stretch>
            <a:fillRect/>
          </a:stretch>
        </p:blipFill>
        <p:spPr>
          <a:xfrm>
            <a:off x="8950569" y="596294"/>
            <a:ext cx="2674816" cy="2689275"/>
          </a:xfrm>
          <a:prstGeom prst="rect">
            <a:avLst/>
          </a:prstGeom>
        </p:spPr>
      </p:pic>
      <p:pic>
        <p:nvPicPr>
          <p:cNvPr id="11" name="Picture 10"/>
          <p:cNvPicPr>
            <a:picLocks noChangeAspect="1"/>
          </p:cNvPicPr>
          <p:nvPr/>
        </p:nvPicPr>
        <p:blipFill>
          <a:blip r:embed="rId3"/>
          <a:stretch>
            <a:fillRect/>
          </a:stretch>
        </p:blipFill>
        <p:spPr>
          <a:xfrm>
            <a:off x="8950569" y="3511678"/>
            <a:ext cx="2674816" cy="2717274"/>
          </a:xfrm>
          <a:prstGeom prst="rect">
            <a:avLst/>
          </a:prstGeom>
        </p:spPr>
      </p:pic>
    </p:spTree>
    <p:extLst>
      <p:ext uri="{BB962C8B-B14F-4D97-AF65-F5344CB8AC3E}">
        <p14:creationId xmlns:p14="http://schemas.microsoft.com/office/powerpoint/2010/main" val="30128188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45671"/>
          </a:xfrm>
        </p:spPr>
        <p:txBody>
          <a:bodyPr>
            <a:normAutofit/>
          </a:bodyPr>
          <a:lstStyle/>
          <a:p>
            <a:pPr algn="ctr"/>
            <a:r>
              <a:rPr lang="en-US" sz="4000" b="1" dirty="0" smtClean="0"/>
              <a:t>Terminologies</a:t>
            </a:r>
            <a:endParaRPr lang="en-IN" sz="4000" b="1" dirty="0"/>
          </a:p>
        </p:txBody>
      </p:sp>
      <p:sp>
        <p:nvSpPr>
          <p:cNvPr id="3" name="Content Placeholder 2"/>
          <p:cNvSpPr>
            <a:spLocks noGrp="1"/>
          </p:cNvSpPr>
          <p:nvPr>
            <p:ph idx="1"/>
          </p:nvPr>
        </p:nvSpPr>
        <p:spPr>
          <a:xfrm>
            <a:off x="272143" y="1219566"/>
            <a:ext cx="5562600" cy="5136783"/>
          </a:xfrm>
        </p:spPr>
        <p:txBody>
          <a:bodyPr>
            <a:normAutofit/>
          </a:bodyPr>
          <a:lstStyle/>
          <a:p>
            <a:r>
              <a:rPr lang="en-US" sz="2400" b="1" dirty="0" smtClean="0"/>
              <a:t>Footprint </a:t>
            </a:r>
            <a:r>
              <a:rPr lang="en-US" sz="2400" b="1" dirty="0"/>
              <a:t>Edge: </a:t>
            </a:r>
            <a:endParaRPr lang="en-US" sz="2400" b="1" dirty="0" smtClean="0"/>
          </a:p>
          <a:p>
            <a:pPr lvl="1"/>
            <a:r>
              <a:rPr lang="en-US" sz="2000" dirty="0" smtClean="0"/>
              <a:t>A </a:t>
            </a:r>
            <a:r>
              <a:rPr lang="en-US" sz="2000" dirty="0"/>
              <a:t>grid edge on the DMB that is used by </a:t>
            </a:r>
            <a:r>
              <a:rPr lang="en-US" sz="2000" dirty="0" smtClean="0"/>
              <a:t>assay droplets </a:t>
            </a:r>
            <a:r>
              <a:rPr lang="en-US" sz="2000" dirty="0"/>
              <a:t>during transport operations </a:t>
            </a:r>
            <a:endParaRPr lang="en-US" sz="2000" dirty="0" smtClean="0"/>
          </a:p>
          <a:p>
            <a:pPr lvl="1"/>
            <a:endParaRPr lang="en-US" sz="2000" dirty="0"/>
          </a:p>
          <a:p>
            <a:pPr lvl="1"/>
            <a:endParaRPr lang="en-US" sz="2000" dirty="0" smtClean="0"/>
          </a:p>
          <a:p>
            <a:pPr lvl="1"/>
            <a:endParaRPr lang="en-US" sz="2000" dirty="0"/>
          </a:p>
          <a:p>
            <a:pPr marL="457200" lvl="1" indent="0">
              <a:buNone/>
            </a:pPr>
            <a:endParaRPr lang="en-US" b="1" dirty="0"/>
          </a:p>
          <a:p>
            <a:r>
              <a:rPr lang="en-US" sz="2400" b="1" dirty="0" smtClean="0"/>
              <a:t>Assay </a:t>
            </a:r>
            <a:r>
              <a:rPr lang="en-US" sz="2400" b="1" dirty="0"/>
              <a:t>Footprint: </a:t>
            </a:r>
            <a:endParaRPr lang="en-US" sz="2400" b="1" dirty="0" smtClean="0"/>
          </a:p>
          <a:p>
            <a:pPr lvl="1"/>
            <a:r>
              <a:rPr lang="en-US" sz="2000" dirty="0"/>
              <a:t>S</a:t>
            </a:r>
            <a:r>
              <a:rPr lang="en-US" sz="2000" dirty="0" smtClean="0"/>
              <a:t>et </a:t>
            </a:r>
            <a:r>
              <a:rPr lang="en-US" sz="2000" dirty="0"/>
              <a:t>of all </a:t>
            </a:r>
            <a:r>
              <a:rPr lang="en-US" sz="2000" dirty="0">
                <a:solidFill>
                  <a:srgbClr val="FF0000"/>
                </a:solidFill>
              </a:rPr>
              <a:t>vertices</a:t>
            </a:r>
            <a:r>
              <a:rPr lang="en-US" sz="2000" dirty="0"/>
              <a:t> on </a:t>
            </a:r>
            <a:r>
              <a:rPr lang="en-US" sz="2000" dirty="0" smtClean="0"/>
              <a:t/>
            </a:r>
            <a:br>
              <a:rPr lang="en-US" sz="2000" dirty="0" smtClean="0"/>
            </a:br>
            <a:r>
              <a:rPr lang="en-US" sz="2000" dirty="0" smtClean="0"/>
              <a:t>which </a:t>
            </a:r>
            <a:r>
              <a:rPr lang="en-US" sz="2000" dirty="0"/>
              <a:t>a droplet was </a:t>
            </a:r>
            <a:r>
              <a:rPr lang="en-US" sz="2000" dirty="0" smtClean="0"/>
              <a:t/>
            </a:r>
            <a:br>
              <a:rPr lang="en-US" sz="2000" dirty="0" smtClean="0"/>
            </a:br>
            <a:r>
              <a:rPr lang="en-US" sz="2000" dirty="0" smtClean="0"/>
              <a:t>present during </a:t>
            </a:r>
            <a:r>
              <a:rPr lang="en-US" sz="2000" dirty="0"/>
              <a:t>assay </a:t>
            </a:r>
            <a:r>
              <a:rPr lang="en-US" sz="2000" dirty="0" smtClean="0"/>
              <a:t/>
            </a:r>
            <a:br>
              <a:rPr lang="en-US" sz="2000" dirty="0" smtClean="0"/>
            </a:br>
            <a:r>
              <a:rPr lang="en-US" sz="2000" dirty="0" smtClean="0"/>
              <a:t>execution</a:t>
            </a:r>
            <a:r>
              <a:rPr lang="en-US" sz="2000" dirty="0"/>
              <a:t>.</a:t>
            </a:r>
            <a:endParaRPr lang="en-IN" sz="2000" dirty="0"/>
          </a:p>
        </p:txBody>
      </p:sp>
      <p:sp>
        <p:nvSpPr>
          <p:cNvPr id="4" name="Date Placeholder 3"/>
          <p:cNvSpPr>
            <a:spLocks noGrp="1"/>
          </p:cNvSpPr>
          <p:nvPr>
            <p:ph type="dt" sz="half" idx="10"/>
          </p:nvPr>
        </p:nvSpPr>
        <p:spPr/>
        <p:txBody>
          <a:bodyPr/>
          <a:lstStyle/>
          <a:p>
            <a:fld id="{F4AC7373-6E2E-4DE8-A71E-D751AD10A525}" type="datetime3">
              <a:rPr lang="en-IN" smtClean="0"/>
              <a:t>13 June 2025</a:t>
            </a:fld>
            <a:endParaRPr lang="en-IN" dirty="0"/>
          </a:p>
        </p:txBody>
      </p:sp>
      <p:sp>
        <p:nvSpPr>
          <p:cNvPr id="5" name="Footer Placeholder 4"/>
          <p:cNvSpPr>
            <a:spLocks noGrp="1"/>
          </p:cNvSpPr>
          <p:nvPr>
            <p:ph type="ftr" sz="quarter" idx="11"/>
          </p:nvPr>
        </p:nvSpPr>
        <p:spPr/>
        <p:txBody>
          <a:bodyPr/>
          <a:lstStyle/>
          <a:p>
            <a:r>
              <a:rPr lang="en-IN" dirty="0" smtClean="0"/>
              <a:t>In-Field Testing of DMB</a:t>
            </a:r>
            <a:endParaRPr lang="en-IN" dirty="0"/>
          </a:p>
        </p:txBody>
      </p:sp>
      <p:sp>
        <p:nvSpPr>
          <p:cNvPr id="6" name="Slide Number Placeholder 5"/>
          <p:cNvSpPr>
            <a:spLocks noGrp="1"/>
          </p:cNvSpPr>
          <p:nvPr>
            <p:ph type="sldNum" sz="quarter" idx="12"/>
          </p:nvPr>
        </p:nvSpPr>
        <p:spPr/>
        <p:txBody>
          <a:bodyPr/>
          <a:lstStyle/>
          <a:p>
            <a:fld id="{AF4D6369-262A-4935-8BA4-DEA08C81E600}" type="slidenum">
              <a:rPr lang="en-IN" smtClean="0"/>
              <a:t>5</a:t>
            </a:fld>
            <a:endParaRPr lang="en-IN" dirty="0"/>
          </a:p>
        </p:txBody>
      </p:sp>
      <p:pic>
        <p:nvPicPr>
          <p:cNvPr id="7"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0491" y="1675431"/>
            <a:ext cx="5996119" cy="2859153"/>
          </a:xfrm>
          <a:prstGeom prst="rect">
            <a:avLst/>
          </a:prstGeom>
        </p:spPr>
      </p:pic>
      <p:sp>
        <p:nvSpPr>
          <p:cNvPr id="8" name="Rectangle 7"/>
          <p:cNvSpPr/>
          <p:nvPr/>
        </p:nvSpPr>
        <p:spPr>
          <a:xfrm>
            <a:off x="6359183" y="4590813"/>
            <a:ext cx="5770685" cy="738664"/>
          </a:xfrm>
          <a:prstGeom prst="rect">
            <a:avLst/>
          </a:prstGeom>
        </p:spPr>
        <p:txBody>
          <a:bodyPr wrap="square">
            <a:spAutoFit/>
          </a:bodyPr>
          <a:lstStyle/>
          <a:p>
            <a:r>
              <a:rPr lang="en-IN" sz="1400" b="1" dirty="0"/>
              <a:t>Figure 2: Mapping of a Sequential-mixing assay in 1:2:5 on a 7×7array: </a:t>
            </a:r>
            <a:r>
              <a:rPr lang="en-IN" sz="1400" b="1" dirty="0" smtClean="0"/>
              <a:t/>
            </a:r>
            <a:br>
              <a:rPr lang="en-IN" sz="1400" b="1" dirty="0" smtClean="0"/>
            </a:br>
            <a:r>
              <a:rPr lang="en-IN" sz="1400" b="1" dirty="0" smtClean="0"/>
              <a:t>(</a:t>
            </a:r>
            <a:r>
              <a:rPr lang="en-IN" sz="1400" b="1" dirty="0"/>
              <a:t>a) sequencing graph, (b) synthesized </a:t>
            </a:r>
            <a:r>
              <a:rPr lang="en-IN" sz="1400" b="1" dirty="0" smtClean="0"/>
              <a:t>output, and </a:t>
            </a:r>
            <a:br>
              <a:rPr lang="en-IN" sz="1400" b="1" dirty="0" smtClean="0"/>
            </a:br>
            <a:r>
              <a:rPr lang="en-IN" sz="1400" b="1" dirty="0" smtClean="0"/>
              <a:t>(</a:t>
            </a:r>
            <a:r>
              <a:rPr lang="en-IN" sz="1400" b="1" dirty="0"/>
              <a:t>c) final mapping along with droplets position.</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52028" y="2220655"/>
            <a:ext cx="3002830" cy="1396665"/>
          </a:xfrm>
          <a:prstGeom prst="rect">
            <a:avLst/>
          </a:prstGeom>
        </p:spPr>
      </p:pic>
      <p:pic>
        <p:nvPicPr>
          <p:cNvPr id="11" name="Picture 10"/>
          <p:cNvPicPr>
            <a:picLocks noChangeAspect="1"/>
          </p:cNvPicPr>
          <p:nvPr/>
        </p:nvPicPr>
        <p:blipFill rotWithShape="1">
          <a:blip r:embed="rId5">
            <a:extLst>
              <a:ext uri="{28A0092B-C50C-407E-A947-70E740481C1C}">
                <a14:useLocalDpi xmlns:a14="http://schemas.microsoft.com/office/drawing/2010/main" val="0"/>
              </a:ext>
            </a:extLst>
          </a:blip>
          <a:srcRect t="7953"/>
          <a:stretch/>
        </p:blipFill>
        <p:spPr>
          <a:xfrm>
            <a:off x="3366820" y="4091215"/>
            <a:ext cx="1732304" cy="1717502"/>
          </a:xfrm>
          <a:prstGeom prst="rect">
            <a:avLst/>
          </a:prstGeom>
        </p:spPr>
      </p:pic>
    </p:spTree>
    <p:extLst>
      <p:ext uri="{BB962C8B-B14F-4D97-AF65-F5344CB8AC3E}">
        <p14:creationId xmlns:p14="http://schemas.microsoft.com/office/powerpoint/2010/main" val="884607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3988" y="783400"/>
            <a:ext cx="2577201" cy="2775957"/>
          </a:xfrm>
          <a:prstGeom prst="rect">
            <a:avLst/>
          </a:prstGeom>
        </p:spPr>
      </p:pic>
      <p:sp>
        <p:nvSpPr>
          <p:cNvPr id="43" name="Rectangle 42"/>
          <p:cNvSpPr/>
          <p:nvPr/>
        </p:nvSpPr>
        <p:spPr>
          <a:xfrm>
            <a:off x="9975108" y="798985"/>
            <a:ext cx="1230923" cy="145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p:cNvSpPr>
            <a:spLocks noGrp="1"/>
          </p:cNvSpPr>
          <p:nvPr>
            <p:ph type="title"/>
          </p:nvPr>
        </p:nvSpPr>
        <p:spPr>
          <a:xfrm>
            <a:off x="0" y="-5432"/>
            <a:ext cx="12192000" cy="662782"/>
          </a:xfrm>
        </p:spPr>
        <p:txBody>
          <a:bodyPr>
            <a:normAutofit/>
          </a:bodyPr>
          <a:lstStyle/>
          <a:p>
            <a:pPr algn="ctr"/>
            <a:r>
              <a:rPr lang="en-US" sz="4000" b="1" dirty="0" smtClean="0"/>
              <a:t>Problem Statement</a:t>
            </a:r>
            <a:endParaRPr lang="en-IN" sz="4000" b="1" dirty="0"/>
          </a:p>
        </p:txBody>
      </p:sp>
      <p:sp>
        <p:nvSpPr>
          <p:cNvPr id="3" name="Content Placeholder 2"/>
          <p:cNvSpPr>
            <a:spLocks noGrp="1"/>
          </p:cNvSpPr>
          <p:nvPr>
            <p:ph idx="1"/>
          </p:nvPr>
        </p:nvSpPr>
        <p:spPr>
          <a:xfrm>
            <a:off x="202407" y="1283516"/>
            <a:ext cx="7315200" cy="4351338"/>
          </a:xfrm>
        </p:spPr>
        <p:txBody>
          <a:bodyPr>
            <a:noAutofit/>
          </a:bodyPr>
          <a:lstStyle/>
          <a:p>
            <a:r>
              <a:rPr lang="en-US" sz="2400" dirty="0" smtClean="0">
                <a:solidFill>
                  <a:schemeClr val="accent1">
                    <a:lumMod val="75000"/>
                  </a:schemeClr>
                </a:solidFill>
              </a:rPr>
              <a:t>The smallest unit which ensure the reliability of the biochip is </a:t>
            </a:r>
            <a:r>
              <a:rPr lang="en-US" sz="2400" b="1" dirty="0" smtClean="0">
                <a:solidFill>
                  <a:schemeClr val="accent1">
                    <a:lumMod val="75000"/>
                  </a:schemeClr>
                </a:solidFill>
              </a:rPr>
              <a:t>a Footprint Edge</a:t>
            </a:r>
            <a:r>
              <a:rPr lang="en-US" sz="2400" dirty="0" smtClean="0">
                <a:solidFill>
                  <a:schemeClr val="accent1">
                    <a:lumMod val="75000"/>
                  </a:schemeClr>
                </a:solidFill>
              </a:rPr>
              <a:t>, so if somehow I can state that all the footprint edges are working properly I can state the chip is </a:t>
            </a:r>
            <a:r>
              <a:rPr lang="en-US" sz="2400" smtClean="0">
                <a:solidFill>
                  <a:schemeClr val="accent1">
                    <a:lumMod val="75000"/>
                  </a:schemeClr>
                </a:solidFill>
              </a:rPr>
              <a:t>reliable.</a:t>
            </a:r>
            <a:endParaRPr lang="en-US" sz="2400" dirty="0" smtClean="0">
              <a:solidFill>
                <a:schemeClr val="accent1">
                  <a:lumMod val="75000"/>
                </a:schemeClr>
              </a:solidFill>
            </a:endParaRPr>
          </a:p>
          <a:p>
            <a:r>
              <a:rPr lang="en-US" sz="2400" b="1" dirty="0" smtClean="0"/>
              <a:t>In-Field </a:t>
            </a:r>
            <a:r>
              <a:rPr lang="en-US" sz="2400" b="1" dirty="0"/>
              <a:t>Testing of DMB </a:t>
            </a:r>
            <a:endParaRPr lang="en-US" sz="2400" b="1" dirty="0" smtClean="0"/>
          </a:p>
          <a:p>
            <a:pPr lvl="1"/>
            <a:r>
              <a:rPr lang="en-US" sz="2000" b="1" dirty="0" smtClean="0"/>
              <a:t>Input</a:t>
            </a:r>
            <a:r>
              <a:rPr lang="en-US" sz="2000" b="1" dirty="0"/>
              <a:t>:</a:t>
            </a:r>
            <a:r>
              <a:rPr lang="en-US" sz="2000" dirty="0"/>
              <a:t> An actuation sequence for implementing a bioassay on the target DMB. </a:t>
            </a:r>
            <a:endParaRPr lang="en-US" sz="2000" dirty="0" smtClean="0"/>
          </a:p>
          <a:p>
            <a:pPr lvl="1"/>
            <a:r>
              <a:rPr lang="en-US" sz="2000" b="1" dirty="0" smtClean="0"/>
              <a:t>Output</a:t>
            </a:r>
            <a:r>
              <a:rPr lang="en-US" sz="2000" b="1" dirty="0"/>
              <a:t>: </a:t>
            </a:r>
            <a:r>
              <a:rPr lang="en-US" sz="2000" dirty="0"/>
              <a:t>A test droplet routing plan, including both the path and schedule, from source to sink reservoirs. </a:t>
            </a:r>
            <a:endParaRPr lang="en-US" sz="2000" dirty="0" smtClean="0"/>
          </a:p>
          <a:p>
            <a:pPr lvl="1"/>
            <a:r>
              <a:rPr lang="en-US" sz="2000" b="1" dirty="0" smtClean="0"/>
              <a:t>Objective</a:t>
            </a:r>
            <a:r>
              <a:rPr lang="en-US" sz="2000" b="1" dirty="0"/>
              <a:t>: </a:t>
            </a:r>
            <a:r>
              <a:rPr lang="en-US" sz="2000" dirty="0"/>
              <a:t>Determine a routing plan such that: </a:t>
            </a:r>
            <a:endParaRPr lang="en-US" sz="2000" dirty="0" smtClean="0"/>
          </a:p>
          <a:p>
            <a:pPr lvl="2"/>
            <a:r>
              <a:rPr lang="en-US" dirty="0" smtClean="0"/>
              <a:t>Test </a:t>
            </a:r>
            <a:r>
              <a:rPr lang="en-US" dirty="0"/>
              <a:t>droplets cover assay footprint </a:t>
            </a:r>
            <a:r>
              <a:rPr lang="en-US" dirty="0" smtClean="0"/>
              <a:t>edges.</a:t>
            </a:r>
          </a:p>
          <a:p>
            <a:pPr lvl="2"/>
            <a:r>
              <a:rPr lang="en-US" dirty="0" smtClean="0"/>
              <a:t>Test </a:t>
            </a:r>
            <a:r>
              <a:rPr lang="en-US" dirty="0"/>
              <a:t>droplets do not collide with assay droplets (i.e., </a:t>
            </a:r>
            <a:r>
              <a:rPr lang="en-US" b="1" dirty="0">
                <a:solidFill>
                  <a:srgbClr val="FF0000"/>
                </a:solidFill>
              </a:rPr>
              <a:t>they must avoid entering the 3 × 3 grid centered on any assay droplet at the same </a:t>
            </a:r>
            <a:r>
              <a:rPr lang="en-US" b="1" dirty="0" smtClean="0">
                <a:solidFill>
                  <a:srgbClr val="FF0000"/>
                </a:solidFill>
              </a:rPr>
              <a:t>time step</a:t>
            </a:r>
            <a:r>
              <a:rPr lang="en-US" dirty="0" smtClean="0"/>
              <a:t>). </a:t>
            </a:r>
          </a:p>
          <a:p>
            <a:pPr lvl="2"/>
            <a:r>
              <a:rPr lang="en-US" dirty="0" smtClean="0"/>
              <a:t>The </a:t>
            </a:r>
            <a:r>
              <a:rPr lang="en-US" dirty="0"/>
              <a:t>total routing time is minimized.</a:t>
            </a:r>
            <a:endParaRPr lang="en-IN" dirty="0"/>
          </a:p>
        </p:txBody>
      </p:sp>
      <p:sp>
        <p:nvSpPr>
          <p:cNvPr id="4" name="Date Placeholder 3"/>
          <p:cNvSpPr>
            <a:spLocks noGrp="1"/>
          </p:cNvSpPr>
          <p:nvPr>
            <p:ph type="dt" sz="half" idx="10"/>
          </p:nvPr>
        </p:nvSpPr>
        <p:spPr/>
        <p:txBody>
          <a:bodyPr/>
          <a:lstStyle/>
          <a:p>
            <a:fld id="{B78B5CEF-C120-48ED-8917-6B15A650F14A}" type="datetime3">
              <a:rPr lang="en-IN" smtClean="0"/>
              <a:t>13 June 2025</a:t>
            </a:fld>
            <a:endParaRPr lang="en-IN" dirty="0"/>
          </a:p>
        </p:txBody>
      </p:sp>
      <p:sp>
        <p:nvSpPr>
          <p:cNvPr id="5" name="Footer Placeholder 4"/>
          <p:cNvSpPr>
            <a:spLocks noGrp="1"/>
          </p:cNvSpPr>
          <p:nvPr>
            <p:ph type="ftr" sz="quarter" idx="11"/>
          </p:nvPr>
        </p:nvSpPr>
        <p:spPr/>
        <p:txBody>
          <a:bodyPr/>
          <a:lstStyle/>
          <a:p>
            <a:r>
              <a:rPr lang="en-IN" dirty="0" smtClean="0"/>
              <a:t>In-Field Testing of DMB</a:t>
            </a:r>
            <a:endParaRPr lang="en-IN" dirty="0"/>
          </a:p>
        </p:txBody>
      </p:sp>
      <p:sp>
        <p:nvSpPr>
          <p:cNvPr id="6" name="Slide Number Placeholder 5"/>
          <p:cNvSpPr>
            <a:spLocks noGrp="1"/>
          </p:cNvSpPr>
          <p:nvPr>
            <p:ph type="sldNum" sz="quarter" idx="12"/>
          </p:nvPr>
        </p:nvSpPr>
        <p:spPr/>
        <p:txBody>
          <a:bodyPr/>
          <a:lstStyle/>
          <a:p>
            <a:fld id="{AF4D6369-262A-4935-8BA4-DEA08C81E600}" type="slidenum">
              <a:rPr lang="en-IN" smtClean="0"/>
              <a:t>6</a:t>
            </a:fld>
            <a:endParaRPr lang="en-IN" dirty="0"/>
          </a:p>
        </p:txBody>
      </p:sp>
      <p:sp>
        <p:nvSpPr>
          <p:cNvPr id="11" name="Rectangle 10"/>
          <p:cNvSpPr/>
          <p:nvPr/>
        </p:nvSpPr>
        <p:spPr>
          <a:xfrm>
            <a:off x="9788393" y="678455"/>
            <a:ext cx="308628" cy="30862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p>
        </p:txBody>
      </p:sp>
      <p:sp>
        <p:nvSpPr>
          <p:cNvPr id="12" name="Rectangle 11"/>
          <p:cNvSpPr/>
          <p:nvPr/>
        </p:nvSpPr>
        <p:spPr>
          <a:xfrm>
            <a:off x="8934138" y="1579709"/>
            <a:ext cx="308628" cy="30862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3" name="Rectangle 12"/>
          <p:cNvSpPr/>
          <p:nvPr/>
        </p:nvSpPr>
        <p:spPr>
          <a:xfrm>
            <a:off x="11742282" y="1333930"/>
            <a:ext cx="308628" cy="30862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4" name="Rectangle 13"/>
          <p:cNvSpPr/>
          <p:nvPr/>
        </p:nvSpPr>
        <p:spPr>
          <a:xfrm>
            <a:off x="8920644" y="2409387"/>
            <a:ext cx="308628" cy="30862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6" name="Rectangle 15"/>
          <p:cNvSpPr/>
          <p:nvPr/>
        </p:nvSpPr>
        <p:spPr>
          <a:xfrm>
            <a:off x="10601345" y="3533354"/>
            <a:ext cx="308628" cy="30862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dirty="0"/>
          </a:p>
        </p:txBody>
      </p:sp>
      <p:sp>
        <p:nvSpPr>
          <p:cNvPr id="17" name="Rectangle 16"/>
          <p:cNvSpPr/>
          <p:nvPr/>
        </p:nvSpPr>
        <p:spPr>
          <a:xfrm>
            <a:off x="8923987" y="1479648"/>
            <a:ext cx="337561" cy="411182"/>
          </a:xfrm>
          <a:prstGeom prst="rect">
            <a:avLst/>
          </a:prstGeom>
          <a:noFill/>
        </p:spPr>
        <p:txBody>
          <a:bodyPr wrap="square" lIns="91440" tIns="45720" rIns="91440" bIns="45720">
            <a:spAutoFit/>
          </a:bodyPr>
          <a:lstStyle/>
          <a:p>
            <a:pPr algn="ctr"/>
            <a:r>
              <a:rPr lang="en-US" sz="2800" b="1" dirty="0">
                <a:ln w="0"/>
                <a:effectLst>
                  <a:outerShdw blurRad="38100" dist="19050" dir="2700000" algn="tl" rotWithShape="0">
                    <a:schemeClr val="dk1">
                      <a:alpha val="40000"/>
                    </a:schemeClr>
                  </a:outerShdw>
                </a:effectLst>
              </a:rPr>
              <a:t>A</a:t>
            </a:r>
          </a:p>
        </p:txBody>
      </p:sp>
      <p:sp>
        <p:nvSpPr>
          <p:cNvPr id="18" name="Rectangle 17"/>
          <p:cNvSpPr/>
          <p:nvPr/>
        </p:nvSpPr>
        <p:spPr>
          <a:xfrm>
            <a:off x="8891711" y="2311227"/>
            <a:ext cx="337561" cy="411182"/>
          </a:xfrm>
          <a:prstGeom prst="rect">
            <a:avLst/>
          </a:prstGeom>
          <a:noFill/>
        </p:spPr>
        <p:txBody>
          <a:bodyPr wrap="square" lIns="91440" tIns="45720" rIns="91440" bIns="45720">
            <a:spAutoFit/>
          </a:bodyPr>
          <a:lstStyle/>
          <a:p>
            <a:pPr algn="ctr"/>
            <a:r>
              <a:rPr lang="en-US" sz="2800" b="1" dirty="0" smtClean="0">
                <a:ln w="0"/>
                <a:effectLst>
                  <a:outerShdw blurRad="38100" dist="19050" dir="2700000" algn="tl" rotWithShape="0">
                    <a:schemeClr val="dk1">
                      <a:alpha val="40000"/>
                    </a:schemeClr>
                  </a:outerShdw>
                </a:effectLst>
              </a:rPr>
              <a:t>C</a:t>
            </a:r>
            <a:endParaRPr lang="en-US" sz="2800" b="1" dirty="0">
              <a:ln w="0"/>
              <a:effectLst>
                <a:outerShdw blurRad="38100" dist="19050" dir="2700000" algn="tl" rotWithShape="0">
                  <a:schemeClr val="dk1">
                    <a:alpha val="40000"/>
                  </a:schemeClr>
                </a:outerShdw>
              </a:effectLst>
            </a:endParaRPr>
          </a:p>
        </p:txBody>
      </p:sp>
      <p:sp>
        <p:nvSpPr>
          <p:cNvPr id="19" name="Rectangle 18"/>
          <p:cNvSpPr/>
          <p:nvPr/>
        </p:nvSpPr>
        <p:spPr>
          <a:xfrm>
            <a:off x="11713349" y="1231376"/>
            <a:ext cx="337561" cy="411182"/>
          </a:xfrm>
          <a:prstGeom prst="rect">
            <a:avLst/>
          </a:prstGeom>
          <a:noFill/>
        </p:spPr>
        <p:txBody>
          <a:bodyPr wrap="square" lIns="91440" tIns="45720" rIns="91440" bIns="45720">
            <a:spAutoFit/>
          </a:bodyPr>
          <a:lstStyle/>
          <a:p>
            <a:pPr algn="ctr"/>
            <a:r>
              <a:rPr lang="en-US" sz="2800" b="1" dirty="0" smtClean="0">
                <a:ln w="0"/>
                <a:effectLst>
                  <a:outerShdw blurRad="38100" dist="19050" dir="2700000" algn="tl" rotWithShape="0">
                    <a:schemeClr val="dk1">
                      <a:alpha val="40000"/>
                    </a:schemeClr>
                  </a:outerShdw>
                </a:effectLst>
              </a:rPr>
              <a:t>B</a:t>
            </a:r>
            <a:endParaRPr lang="en-US" sz="2800" b="1" dirty="0">
              <a:ln w="0"/>
              <a:effectLst>
                <a:outerShdw blurRad="38100" dist="19050" dir="2700000" algn="tl" rotWithShape="0">
                  <a:schemeClr val="dk1">
                    <a:alpha val="40000"/>
                  </a:schemeClr>
                </a:outerShdw>
              </a:effectLst>
            </a:endParaRPr>
          </a:p>
        </p:txBody>
      </p:sp>
      <p:sp>
        <p:nvSpPr>
          <p:cNvPr id="24" name="Rectangle 23"/>
          <p:cNvSpPr/>
          <p:nvPr/>
        </p:nvSpPr>
        <p:spPr>
          <a:xfrm>
            <a:off x="9786092" y="587283"/>
            <a:ext cx="337561" cy="461665"/>
          </a:xfrm>
          <a:prstGeom prst="rect">
            <a:avLst/>
          </a:prstGeom>
          <a:noFill/>
        </p:spPr>
        <p:txBody>
          <a:bodyPr wrap="square" lIns="91440" tIns="45720" rIns="91440" bIns="45720">
            <a:spAutoFit/>
          </a:bodyPr>
          <a:lstStyle/>
          <a:p>
            <a:pPr algn="ctr"/>
            <a:r>
              <a:rPr lang="en-US" sz="2400" b="1" dirty="0" smtClean="0">
                <a:ln w="0"/>
                <a:effectLst>
                  <a:outerShdw blurRad="38100" dist="19050" dir="2700000" algn="tl" rotWithShape="0">
                    <a:schemeClr val="dk1">
                      <a:alpha val="40000"/>
                    </a:schemeClr>
                  </a:outerShdw>
                </a:effectLst>
              </a:rPr>
              <a:t>W</a:t>
            </a:r>
            <a:endParaRPr lang="en-US" sz="2400" b="1" dirty="0">
              <a:ln w="0"/>
              <a:effectLst>
                <a:outerShdw blurRad="38100" dist="19050" dir="2700000" algn="tl" rotWithShape="0">
                  <a:schemeClr val="dk1">
                    <a:alpha val="40000"/>
                  </a:schemeClr>
                </a:outerShdw>
              </a:effectLst>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82413" y="3880637"/>
            <a:ext cx="2581500" cy="2780588"/>
          </a:xfrm>
          <a:prstGeom prst="rect">
            <a:avLst/>
          </a:prstGeom>
        </p:spPr>
      </p:pic>
      <p:sp>
        <p:nvSpPr>
          <p:cNvPr id="8" name="Rectangle 7"/>
          <p:cNvSpPr/>
          <p:nvPr/>
        </p:nvSpPr>
        <p:spPr>
          <a:xfrm>
            <a:off x="9822708" y="3922217"/>
            <a:ext cx="1230923" cy="1457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Rectangle 26"/>
          <p:cNvSpPr/>
          <p:nvPr/>
        </p:nvSpPr>
        <p:spPr>
          <a:xfrm>
            <a:off x="10586250" y="691001"/>
            <a:ext cx="308628" cy="30862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p>
        </p:txBody>
      </p:sp>
      <p:sp>
        <p:nvSpPr>
          <p:cNvPr id="28" name="Rectangle 27"/>
          <p:cNvSpPr/>
          <p:nvPr/>
        </p:nvSpPr>
        <p:spPr>
          <a:xfrm>
            <a:off x="10583949" y="599829"/>
            <a:ext cx="337561" cy="461665"/>
          </a:xfrm>
          <a:prstGeom prst="rect">
            <a:avLst/>
          </a:prstGeom>
          <a:noFill/>
        </p:spPr>
        <p:txBody>
          <a:bodyPr wrap="square" lIns="91440" tIns="45720" rIns="91440" bIns="45720">
            <a:spAutoFit/>
          </a:bodyPr>
          <a:lstStyle/>
          <a:p>
            <a:pPr algn="ctr"/>
            <a:r>
              <a:rPr lang="en-US" sz="2400" b="1" dirty="0" smtClean="0">
                <a:ln w="0"/>
                <a:effectLst>
                  <a:outerShdw blurRad="38100" dist="19050" dir="2700000" algn="tl" rotWithShape="0">
                    <a:schemeClr val="dk1">
                      <a:alpha val="40000"/>
                    </a:schemeClr>
                  </a:outerShdw>
                </a:effectLst>
              </a:rPr>
              <a:t>W</a:t>
            </a:r>
            <a:endParaRPr lang="en-US" sz="2400" b="1" dirty="0">
              <a:ln w="0"/>
              <a:effectLst>
                <a:outerShdw blurRad="38100" dist="19050" dir="2700000" algn="tl" rotWithShape="0">
                  <a:schemeClr val="dk1">
                    <a:alpha val="40000"/>
                  </a:schemeClr>
                </a:outerShdw>
              </a:effectLst>
            </a:endParaRPr>
          </a:p>
        </p:txBody>
      </p:sp>
      <p:sp>
        <p:nvSpPr>
          <p:cNvPr id="29" name="Rectangle 28"/>
          <p:cNvSpPr/>
          <p:nvPr/>
        </p:nvSpPr>
        <p:spPr>
          <a:xfrm>
            <a:off x="9781221" y="3532820"/>
            <a:ext cx="308628" cy="30862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IN" dirty="0"/>
          </a:p>
        </p:txBody>
      </p:sp>
      <p:sp>
        <p:nvSpPr>
          <p:cNvPr id="30" name="Rectangle 29"/>
          <p:cNvSpPr/>
          <p:nvPr/>
        </p:nvSpPr>
        <p:spPr>
          <a:xfrm>
            <a:off x="9778920" y="3441648"/>
            <a:ext cx="337561" cy="461665"/>
          </a:xfrm>
          <a:prstGeom prst="rect">
            <a:avLst/>
          </a:prstGeom>
          <a:noFill/>
        </p:spPr>
        <p:txBody>
          <a:bodyPr wrap="square" lIns="91440" tIns="45720" rIns="91440" bIns="45720">
            <a:spAutoFit/>
          </a:bodyPr>
          <a:lstStyle/>
          <a:p>
            <a:pPr algn="ctr"/>
            <a:r>
              <a:rPr lang="en-US" sz="2400" b="1" dirty="0" smtClean="0">
                <a:ln w="0"/>
                <a:effectLst>
                  <a:outerShdw blurRad="38100" dist="19050" dir="2700000" algn="tl" rotWithShape="0">
                    <a:schemeClr val="dk1">
                      <a:alpha val="40000"/>
                    </a:schemeClr>
                  </a:outerShdw>
                </a:effectLst>
              </a:rPr>
              <a:t>W</a:t>
            </a:r>
            <a:endParaRPr lang="en-US" sz="2400" b="1" dirty="0">
              <a:ln w="0"/>
              <a:effectLst>
                <a:outerShdw blurRad="38100" dist="19050" dir="2700000" algn="tl" rotWithShape="0">
                  <a:schemeClr val="dk1">
                    <a:alpha val="40000"/>
                  </a:schemeClr>
                </a:outerShdw>
              </a:effectLst>
            </a:endParaRPr>
          </a:p>
        </p:txBody>
      </p:sp>
      <p:sp>
        <p:nvSpPr>
          <p:cNvPr id="31" name="Rectangle 30"/>
          <p:cNvSpPr/>
          <p:nvPr/>
        </p:nvSpPr>
        <p:spPr>
          <a:xfrm>
            <a:off x="10451827" y="3496348"/>
            <a:ext cx="601804" cy="400110"/>
          </a:xfrm>
          <a:prstGeom prst="rect">
            <a:avLst/>
          </a:prstGeom>
          <a:noFill/>
        </p:spPr>
        <p:txBody>
          <a:bodyPr wrap="square" lIns="91440" tIns="45720" rIns="91440" bIns="45720">
            <a:spAutoFit/>
          </a:bodyPr>
          <a:lstStyle/>
          <a:p>
            <a:pPr algn="ctr"/>
            <a:r>
              <a:rPr lang="en-US" sz="2000" b="1" dirty="0">
                <a:ln w="0"/>
                <a:effectLst>
                  <a:outerShdw blurRad="38100" dist="19050" dir="2700000" algn="tl" rotWithShape="0">
                    <a:schemeClr val="dk1">
                      <a:alpha val="40000"/>
                    </a:schemeClr>
                  </a:outerShdw>
                </a:effectLst>
              </a:rPr>
              <a:t>O</a:t>
            </a:r>
            <a:r>
              <a:rPr lang="en-US" sz="2000" b="1" dirty="0" smtClean="0">
                <a:ln w="0"/>
                <a:effectLst>
                  <a:outerShdw blurRad="38100" dist="19050" dir="2700000" algn="tl" rotWithShape="0">
                    <a:schemeClr val="dk1">
                      <a:alpha val="40000"/>
                    </a:schemeClr>
                  </a:outerShdw>
                </a:effectLst>
              </a:rPr>
              <a:t>P</a:t>
            </a:r>
            <a:endParaRPr lang="en-US" sz="2000" b="1"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4464750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70709"/>
          </a:xfrm>
        </p:spPr>
        <p:txBody>
          <a:bodyPr>
            <a:normAutofit/>
          </a:bodyPr>
          <a:lstStyle/>
          <a:p>
            <a:pPr algn="ctr"/>
            <a:r>
              <a:rPr lang="en-IN" sz="4000" b="1" dirty="0" smtClean="0"/>
              <a:t>Literature Review: DMB Testing</a:t>
            </a:r>
            <a:endParaRPr lang="en-IN" sz="4000" b="1" dirty="0"/>
          </a:p>
        </p:txBody>
      </p:sp>
      <p:sp>
        <p:nvSpPr>
          <p:cNvPr id="4" name="Date Placeholder 3"/>
          <p:cNvSpPr>
            <a:spLocks noGrp="1"/>
          </p:cNvSpPr>
          <p:nvPr>
            <p:ph type="dt" sz="half" idx="10"/>
          </p:nvPr>
        </p:nvSpPr>
        <p:spPr/>
        <p:txBody>
          <a:bodyPr/>
          <a:lstStyle/>
          <a:p>
            <a:fld id="{AA3D33F3-6724-4855-8B39-9BD938E06E45}" type="datetime3">
              <a:rPr lang="en-IN" smtClean="0"/>
              <a:t>13 June 2025</a:t>
            </a:fld>
            <a:endParaRPr lang="en-IN" dirty="0"/>
          </a:p>
        </p:txBody>
      </p:sp>
      <p:sp>
        <p:nvSpPr>
          <p:cNvPr id="5" name="Footer Placeholder 4"/>
          <p:cNvSpPr>
            <a:spLocks noGrp="1"/>
          </p:cNvSpPr>
          <p:nvPr>
            <p:ph type="ftr" sz="quarter" idx="11"/>
          </p:nvPr>
        </p:nvSpPr>
        <p:spPr/>
        <p:txBody>
          <a:bodyPr/>
          <a:lstStyle/>
          <a:p>
            <a:r>
              <a:rPr lang="en-IN" dirty="0" smtClean="0"/>
              <a:t>In-Field Testing of DMB</a:t>
            </a:r>
            <a:endParaRPr lang="en-IN" dirty="0"/>
          </a:p>
        </p:txBody>
      </p:sp>
      <p:sp>
        <p:nvSpPr>
          <p:cNvPr id="6" name="Slide Number Placeholder 5"/>
          <p:cNvSpPr>
            <a:spLocks noGrp="1"/>
          </p:cNvSpPr>
          <p:nvPr>
            <p:ph type="sldNum" sz="quarter" idx="12"/>
          </p:nvPr>
        </p:nvSpPr>
        <p:spPr/>
        <p:txBody>
          <a:bodyPr/>
          <a:lstStyle/>
          <a:p>
            <a:fld id="{AF4D6369-262A-4935-8BA4-DEA08C81E600}" type="slidenum">
              <a:rPr lang="en-IN" smtClean="0"/>
              <a:t>7</a:t>
            </a:fld>
            <a:endParaRPr lang="en-IN" dirty="0"/>
          </a:p>
        </p:txBody>
      </p:sp>
      <p:graphicFrame>
        <p:nvGraphicFramePr>
          <p:cNvPr id="7" name="Table 6"/>
          <p:cNvGraphicFramePr>
            <a:graphicFrameLocks noGrp="1"/>
          </p:cNvGraphicFramePr>
          <p:nvPr>
            <p:extLst>
              <p:ext uri="{D42A27DB-BD31-4B8C-83A1-F6EECF244321}">
                <p14:modId xmlns:p14="http://schemas.microsoft.com/office/powerpoint/2010/main" val="3834965511"/>
              </p:ext>
            </p:extLst>
          </p:nvPr>
        </p:nvGraphicFramePr>
        <p:xfrm>
          <a:off x="335693" y="1865601"/>
          <a:ext cx="11713578" cy="3248067"/>
        </p:xfrm>
        <a:graphic>
          <a:graphicData uri="http://schemas.openxmlformats.org/drawingml/2006/table">
            <a:tbl>
              <a:tblPr/>
              <a:tblGrid>
                <a:gridCol w="4220900">
                  <a:extLst>
                    <a:ext uri="{9D8B030D-6E8A-4147-A177-3AD203B41FA5}">
                      <a16:colId xmlns:a16="http://schemas.microsoft.com/office/drawing/2014/main" val="2635874254"/>
                    </a:ext>
                  </a:extLst>
                </a:gridCol>
                <a:gridCol w="2152891">
                  <a:extLst>
                    <a:ext uri="{9D8B030D-6E8A-4147-A177-3AD203B41FA5}">
                      <a16:colId xmlns:a16="http://schemas.microsoft.com/office/drawing/2014/main" val="2251128063"/>
                    </a:ext>
                  </a:extLst>
                </a:gridCol>
                <a:gridCol w="1169043">
                  <a:extLst>
                    <a:ext uri="{9D8B030D-6E8A-4147-A177-3AD203B41FA5}">
                      <a16:colId xmlns:a16="http://schemas.microsoft.com/office/drawing/2014/main" val="396646210"/>
                    </a:ext>
                  </a:extLst>
                </a:gridCol>
                <a:gridCol w="1724628">
                  <a:extLst>
                    <a:ext uri="{9D8B030D-6E8A-4147-A177-3AD203B41FA5}">
                      <a16:colId xmlns:a16="http://schemas.microsoft.com/office/drawing/2014/main" val="2096490643"/>
                    </a:ext>
                  </a:extLst>
                </a:gridCol>
                <a:gridCol w="972273">
                  <a:extLst>
                    <a:ext uri="{9D8B030D-6E8A-4147-A177-3AD203B41FA5}">
                      <a16:colId xmlns:a16="http://schemas.microsoft.com/office/drawing/2014/main" val="1238820337"/>
                    </a:ext>
                  </a:extLst>
                </a:gridCol>
                <a:gridCol w="1473843">
                  <a:extLst>
                    <a:ext uri="{9D8B030D-6E8A-4147-A177-3AD203B41FA5}">
                      <a16:colId xmlns:a16="http://schemas.microsoft.com/office/drawing/2014/main" val="2812411805"/>
                    </a:ext>
                  </a:extLst>
                </a:gridCol>
              </a:tblGrid>
              <a:tr h="280501">
                <a:tc>
                  <a:txBody>
                    <a:bodyPr/>
                    <a:lstStyle/>
                    <a:p>
                      <a:r>
                        <a:rPr lang="en-IN" sz="1600" b="1" dirty="0"/>
                        <a:t>Test Approach</a:t>
                      </a:r>
                      <a:endParaRPr lang="en-IN" sz="1600" dirty="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a:t>Testing Type</a:t>
                      </a:r>
                      <a:endParaRPr lang="en-IN" sz="1600" dirty="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a:t>Def. Detect.</a:t>
                      </a:r>
                      <a:endParaRPr lang="en-IN" sz="1600" dirty="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a:t>No. of Test Droplet</a:t>
                      </a:r>
                      <a:endParaRPr lang="en-IN" sz="1600" dirty="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a:t>Scalability</a:t>
                      </a:r>
                      <a:endParaRPr lang="en-IN" sz="1600" dirty="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a:t>Approach Type</a:t>
                      </a:r>
                      <a:endParaRPr lang="en-IN" sz="1600" dirty="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0259252"/>
                  </a:ext>
                </a:extLst>
              </a:tr>
              <a:tr h="504913">
                <a:tc>
                  <a:txBody>
                    <a:bodyPr/>
                    <a:lstStyle/>
                    <a:p>
                      <a:r>
                        <a:rPr lang="en-IN" sz="1600" dirty="0"/>
                        <a:t>Offline Testing [Su et al., 2007][</a:t>
                      </a:r>
                      <a:r>
                        <a:rPr lang="en-IN" sz="1600" dirty="0" err="1"/>
                        <a:t>Mitra</a:t>
                      </a:r>
                      <a:r>
                        <a:rPr lang="en-IN" sz="1600"/>
                        <a:t> et al., 2011]</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Structural</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Full</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1–2 (heuristic)</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till 15×15</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PMF/CPP</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2010535"/>
                  </a:ext>
                </a:extLst>
              </a:tr>
              <a:tr h="388395">
                <a:tc>
                  <a:txBody>
                    <a:bodyPr/>
                    <a:lstStyle/>
                    <a:p>
                      <a:r>
                        <a:rPr lang="en-IN" sz="1600" dirty="0"/>
                        <a:t>Online error detection [</a:t>
                      </a:r>
                      <a:r>
                        <a:rPr lang="en-IN" sz="1600" dirty="0" err="1"/>
                        <a:t>Mitra</a:t>
                      </a:r>
                      <a:r>
                        <a:rPr lang="en-IN" sz="1600" dirty="0"/>
                        <a:t> et al., 2012]</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Functional</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Partial</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Nil</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any size</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Table-driven</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2247744"/>
                  </a:ext>
                </a:extLst>
              </a:tr>
              <a:tr h="388395">
                <a:tc>
                  <a:txBody>
                    <a:bodyPr/>
                    <a:lstStyle/>
                    <a:p>
                      <a:r>
                        <a:rPr lang="en-IN" sz="1600"/>
                        <a:t>In-field (concurrent) [Su et al., 2006b]</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Structural (Hamiltonian)</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Partial</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1–2 (heuristic)</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till 15×15</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ILP</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9444371"/>
                  </a:ext>
                </a:extLst>
              </a:tr>
              <a:tr h="388395">
                <a:tc>
                  <a:txBody>
                    <a:bodyPr/>
                    <a:lstStyle/>
                    <a:p>
                      <a:r>
                        <a:rPr lang="en-IN" sz="1600" dirty="0"/>
                        <a:t>In-field (concurrent) [Su et al., 2007]</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dirty="0"/>
                        <a:t>Structural (Eulerian)</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Full</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1–2 (heuristic)</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till 15×15</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PMF (Heuristic)</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669216"/>
                  </a:ext>
                </a:extLst>
              </a:tr>
              <a:tr h="504913">
                <a:tc>
                  <a:txBody>
                    <a:bodyPr/>
                    <a:lstStyle/>
                    <a:p>
                      <a:r>
                        <a:rPr lang="en-IN" sz="1600"/>
                        <a:t>In-field (concurrent) [Bhattacharjee et al., 2017]</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Structural (Eulerian)</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Full</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up to 4</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till 15×15</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SAT</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8191192"/>
                  </a:ext>
                </a:extLst>
              </a:tr>
              <a:tr h="388395">
                <a:tc>
                  <a:txBody>
                    <a:bodyPr/>
                    <a:lstStyle/>
                    <a:p>
                      <a:r>
                        <a:rPr lang="en-IN" sz="1600"/>
                        <a:t>Offline Testing [Dinh et al., 2015]</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Structural (Eulerian)</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Full</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any number</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till 30×30</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a:t>ILP/Heuristic</a:t>
                      </a:r>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878419"/>
                  </a:ext>
                </a:extLst>
              </a:tr>
              <a:tr h="388395">
                <a:tc>
                  <a:txBody>
                    <a:bodyPr/>
                    <a:lstStyle/>
                    <a:p>
                      <a:r>
                        <a:rPr lang="en-IN" sz="1600" b="1" dirty="0"/>
                        <a:t>In-field (concurrent) Proposed</a:t>
                      </a:r>
                      <a:endParaRPr lang="en-IN" sz="1600" dirty="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a:t>Structural (Eulerian)</a:t>
                      </a:r>
                      <a:endParaRPr lang="en-IN" sz="160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a:t>Full</a:t>
                      </a:r>
                      <a:endParaRPr lang="en-IN" sz="160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a:t>up to 4</a:t>
                      </a:r>
                      <a:endParaRPr lang="en-IN" sz="160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a:t>till 50×50</a:t>
                      </a:r>
                      <a:endParaRPr lang="en-IN" sz="160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1" dirty="0" err="1"/>
                        <a:t>Reinf</a:t>
                      </a:r>
                      <a:r>
                        <a:rPr lang="en-IN" sz="1600" b="1" dirty="0"/>
                        <a:t>. Learn.</a:t>
                      </a:r>
                      <a:endParaRPr lang="en-IN" sz="1600" dirty="0"/>
                    </a:p>
                  </a:txBody>
                  <a:tcPr marL="52426" marR="52426" marT="26213" marB="262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8230353"/>
                  </a:ext>
                </a:extLst>
              </a:tr>
            </a:tbl>
          </a:graphicData>
        </a:graphic>
      </p:graphicFrame>
      <p:sp>
        <p:nvSpPr>
          <p:cNvPr id="8" name="TextBox 7"/>
          <p:cNvSpPr txBox="1"/>
          <p:nvPr/>
        </p:nvSpPr>
        <p:spPr>
          <a:xfrm>
            <a:off x="3068109" y="1307109"/>
            <a:ext cx="5788572" cy="369332"/>
          </a:xfrm>
          <a:prstGeom prst="rect">
            <a:avLst/>
          </a:prstGeom>
          <a:noFill/>
        </p:spPr>
        <p:txBody>
          <a:bodyPr wrap="none" rtlCol="0">
            <a:spAutoFit/>
          </a:bodyPr>
          <a:lstStyle/>
          <a:p>
            <a:r>
              <a:rPr lang="en-IN" dirty="0" smtClean="0"/>
              <a:t>Table 1: Characteristics of Various Test Approaches for DMBs</a:t>
            </a:r>
            <a:endParaRPr lang="en-IN" dirty="0"/>
          </a:p>
        </p:txBody>
      </p:sp>
    </p:spTree>
    <p:extLst>
      <p:ext uri="{BB962C8B-B14F-4D97-AF65-F5344CB8AC3E}">
        <p14:creationId xmlns:p14="http://schemas.microsoft.com/office/powerpoint/2010/main" val="31048368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1100636"/>
            <a:ext cx="10826931" cy="5045437"/>
          </a:xfrm>
        </p:spPr>
        <p:txBody>
          <a:bodyPr>
            <a:normAutofit/>
          </a:bodyPr>
          <a:lstStyle/>
          <a:p>
            <a:r>
              <a:rPr lang="en-IN" sz="2400" dirty="0" smtClean="0"/>
              <a:t>Recently</a:t>
            </a:r>
            <a:r>
              <a:rPr lang="en-IN" sz="2400" dirty="0"/>
              <a:t>, reinforcement learning-based approaches have </a:t>
            </a:r>
            <a:r>
              <a:rPr lang="en-IN" sz="2400" dirty="0" smtClean="0"/>
              <a:t>gained attention </a:t>
            </a:r>
            <a:r>
              <a:rPr lang="en-IN" sz="2400" dirty="0"/>
              <a:t>for scalable and adaptive droplet routing under </a:t>
            </a:r>
            <a:r>
              <a:rPr lang="en-IN" sz="2400" dirty="0" smtClean="0"/>
              <a:t>faulty conditions.</a:t>
            </a:r>
          </a:p>
          <a:p>
            <a:pPr marL="0" indent="0">
              <a:buNone/>
            </a:pPr>
            <a:endParaRPr lang="en-IN" sz="2400" dirty="0"/>
          </a:p>
          <a:p>
            <a:pPr lvl="1"/>
            <a:r>
              <a:rPr lang="en-IN" sz="2000" dirty="0" smtClean="0"/>
              <a:t>Liang </a:t>
            </a:r>
            <a:r>
              <a:rPr lang="en-IN" sz="2000" dirty="0"/>
              <a:t>et al. [Liang and </a:t>
            </a:r>
            <a:r>
              <a:rPr lang="en-IN" sz="2000" dirty="0" err="1"/>
              <a:t>Zhong</a:t>
            </a:r>
            <a:r>
              <a:rPr lang="en-IN" sz="2000" dirty="0"/>
              <a:t>, </a:t>
            </a:r>
            <a:r>
              <a:rPr lang="en-IN" sz="2000" dirty="0" smtClean="0"/>
              <a:t>2020</a:t>
            </a:r>
            <a:r>
              <a:rPr lang="en-US" sz="2000" dirty="0"/>
              <a:t>; Liang et al., 2024] proposed an RL-based</a:t>
            </a:r>
            <a:r>
              <a:rPr lang="en-IN" sz="2000" dirty="0" smtClean="0"/>
              <a:t> </a:t>
            </a:r>
            <a:r>
              <a:rPr lang="en-IN" sz="2000" dirty="0"/>
              <a:t>approach for adaptive droplet routing based </a:t>
            </a:r>
            <a:r>
              <a:rPr lang="en-IN" sz="2000" dirty="0" smtClean="0"/>
              <a:t>on electrode </a:t>
            </a:r>
            <a:r>
              <a:rPr lang="en-IN" sz="2000" dirty="0"/>
              <a:t>health conditions.</a:t>
            </a:r>
          </a:p>
          <a:p>
            <a:pPr lvl="1"/>
            <a:r>
              <a:rPr lang="en-IN" sz="2000" dirty="0" smtClean="0"/>
              <a:t>Kawakami </a:t>
            </a:r>
            <a:r>
              <a:rPr lang="en-IN" sz="2000" dirty="0"/>
              <a:t>et al. [Kawakami et al., 2023] introduced a deep </a:t>
            </a:r>
            <a:r>
              <a:rPr lang="en-IN" sz="2000" dirty="0" smtClean="0"/>
              <a:t>RL method </a:t>
            </a:r>
            <a:r>
              <a:rPr lang="en-IN" sz="2000" dirty="0"/>
              <a:t>that can dynamically adapt to both known and </a:t>
            </a:r>
            <a:r>
              <a:rPr lang="en-IN" sz="2000" dirty="0" smtClean="0"/>
              <a:t>unknown faults </a:t>
            </a:r>
            <a:r>
              <a:rPr lang="en-IN" sz="2000" dirty="0"/>
              <a:t>during droplet routing.</a:t>
            </a:r>
          </a:p>
          <a:p>
            <a:pPr lvl="1"/>
            <a:r>
              <a:rPr lang="en-IN" sz="2000" dirty="0" smtClean="0"/>
              <a:t>A </a:t>
            </a:r>
            <a:r>
              <a:rPr lang="en-IN" sz="2000" dirty="0"/>
              <a:t>multi-agent deep RL algorithm </a:t>
            </a:r>
            <a:r>
              <a:rPr lang="en-IN" sz="2000" dirty="0" smtClean="0"/>
              <a:t/>
            </a:r>
            <a:br>
              <a:rPr lang="en-IN" sz="2000" dirty="0" smtClean="0"/>
            </a:br>
            <a:r>
              <a:rPr lang="en-IN" sz="2000" dirty="0" smtClean="0"/>
              <a:t>was </a:t>
            </a:r>
            <a:r>
              <a:rPr lang="en-IN" sz="2000" dirty="0"/>
              <a:t>developed for </a:t>
            </a:r>
            <a:r>
              <a:rPr lang="en-IN" sz="2000" dirty="0" smtClean="0"/>
              <a:t>routing multiple </a:t>
            </a:r>
            <a:br>
              <a:rPr lang="en-IN" sz="2000" dirty="0" smtClean="0"/>
            </a:br>
            <a:r>
              <a:rPr lang="en-IN" sz="2000" dirty="0" smtClean="0"/>
              <a:t>droplets </a:t>
            </a:r>
            <a:r>
              <a:rPr lang="en-IN" sz="2000" dirty="0"/>
              <a:t>on micro-electrode dot </a:t>
            </a:r>
            <a:r>
              <a:rPr lang="en-IN" sz="2000" dirty="0" smtClean="0"/>
              <a:t/>
            </a:r>
            <a:br>
              <a:rPr lang="en-IN" sz="2000" dirty="0" smtClean="0"/>
            </a:br>
            <a:r>
              <a:rPr lang="en-IN" sz="2000" dirty="0" smtClean="0"/>
              <a:t>array </a:t>
            </a:r>
            <a:r>
              <a:rPr lang="en-IN" sz="2000" dirty="0"/>
              <a:t>(</a:t>
            </a:r>
            <a:r>
              <a:rPr lang="en-IN" sz="2000" dirty="0" smtClean="0"/>
              <a:t>MEDA) biochips </a:t>
            </a:r>
            <a:r>
              <a:rPr lang="en-IN" sz="2000" dirty="0"/>
              <a:t>[</a:t>
            </a:r>
            <a:r>
              <a:rPr lang="en-IN" sz="2000" dirty="0" err="1"/>
              <a:t>Zhong</a:t>
            </a:r>
            <a:r>
              <a:rPr lang="en-IN" sz="2000" dirty="0"/>
              <a:t> et al., </a:t>
            </a:r>
            <a:r>
              <a:rPr lang="en-IN" sz="2000" dirty="0" smtClean="0"/>
              <a:t/>
            </a:r>
            <a:br>
              <a:rPr lang="en-IN" sz="2000" dirty="0" smtClean="0"/>
            </a:br>
            <a:r>
              <a:rPr lang="en-IN" sz="2000" dirty="0" smtClean="0"/>
              <a:t>2018</a:t>
            </a:r>
            <a:r>
              <a:rPr lang="en-IN" sz="2000" dirty="0"/>
              <a:t>], utilizing on-chip </a:t>
            </a:r>
            <a:r>
              <a:rPr lang="en-IN" sz="2000" dirty="0" smtClean="0"/>
              <a:t>sensing </a:t>
            </a:r>
            <a:br>
              <a:rPr lang="en-IN" sz="2000" dirty="0" smtClean="0"/>
            </a:br>
            <a:r>
              <a:rPr lang="en-IN" sz="2000" dirty="0" smtClean="0"/>
              <a:t>capabilities </a:t>
            </a:r>
            <a:r>
              <a:rPr lang="en-IN" sz="2000" dirty="0"/>
              <a:t>[Liang, 2021, </a:t>
            </a:r>
            <a:r>
              <a:rPr lang="en-IN" sz="2000" dirty="0" err="1"/>
              <a:t>Elfar</a:t>
            </a:r>
            <a:r>
              <a:rPr lang="en-IN" sz="2000" dirty="0"/>
              <a:t> et al., </a:t>
            </a:r>
            <a:r>
              <a:rPr lang="en-IN" sz="2000" dirty="0" smtClean="0"/>
              <a:t/>
            </a:r>
            <a:br>
              <a:rPr lang="en-IN" sz="2000" dirty="0" smtClean="0"/>
            </a:br>
            <a:r>
              <a:rPr lang="en-IN" sz="2000" dirty="0" smtClean="0"/>
              <a:t>2022].</a:t>
            </a:r>
          </a:p>
          <a:p>
            <a:pPr marL="0" indent="0">
              <a:buNone/>
            </a:pPr>
            <a:endParaRPr lang="en-US" dirty="0" smtClean="0">
              <a:solidFill>
                <a:schemeClr val="accent1">
                  <a:lumMod val="75000"/>
                </a:schemeClr>
              </a:solidFill>
            </a:endParaRPr>
          </a:p>
        </p:txBody>
      </p:sp>
      <p:sp>
        <p:nvSpPr>
          <p:cNvPr id="4" name="Date Placeholder 3"/>
          <p:cNvSpPr>
            <a:spLocks noGrp="1"/>
          </p:cNvSpPr>
          <p:nvPr>
            <p:ph type="dt" sz="half" idx="10"/>
          </p:nvPr>
        </p:nvSpPr>
        <p:spPr/>
        <p:txBody>
          <a:bodyPr/>
          <a:lstStyle/>
          <a:p>
            <a:fld id="{21298D98-B2C0-41FB-A8BE-FDA7AD5290DD}"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8</a:t>
            </a:fld>
            <a:endParaRPr lang="en-IN"/>
          </a:p>
        </p:txBody>
      </p:sp>
      <p:sp>
        <p:nvSpPr>
          <p:cNvPr id="7" name="Title 1"/>
          <p:cNvSpPr txBox="1">
            <a:spLocks/>
          </p:cNvSpPr>
          <p:nvPr/>
        </p:nvSpPr>
        <p:spPr>
          <a:xfrm>
            <a:off x="0" y="15475"/>
            <a:ext cx="12192000" cy="7707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000" b="1" dirty="0"/>
              <a:t>Literature Review: RL in DMB Design Automation</a:t>
            </a:r>
          </a:p>
        </p:txBody>
      </p:sp>
      <p:pic>
        <p:nvPicPr>
          <p:cNvPr id="9" name="Picture 8"/>
          <p:cNvPicPr>
            <a:picLocks noChangeAspect="1"/>
          </p:cNvPicPr>
          <p:nvPr/>
        </p:nvPicPr>
        <p:blipFill>
          <a:blip r:embed="rId3"/>
          <a:stretch>
            <a:fillRect/>
          </a:stretch>
        </p:blipFill>
        <p:spPr>
          <a:xfrm>
            <a:off x="5947312" y="3623354"/>
            <a:ext cx="4655100" cy="2142272"/>
          </a:xfrm>
          <a:prstGeom prst="rect">
            <a:avLst/>
          </a:prstGeom>
        </p:spPr>
      </p:pic>
    </p:spTree>
    <p:extLst>
      <p:ext uri="{BB962C8B-B14F-4D97-AF65-F5344CB8AC3E}">
        <p14:creationId xmlns:p14="http://schemas.microsoft.com/office/powerpoint/2010/main" val="169341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08084D-8C1C-40F3-9324-D160108BDF7D}"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9</a:t>
            </a:fld>
            <a:endParaRPr lang="en-IN"/>
          </a:p>
        </p:txBody>
      </p:sp>
      <p:sp>
        <p:nvSpPr>
          <p:cNvPr id="9" name="TextBox 8"/>
          <p:cNvSpPr txBox="1"/>
          <p:nvPr/>
        </p:nvSpPr>
        <p:spPr>
          <a:xfrm>
            <a:off x="666206" y="979714"/>
            <a:ext cx="9516002" cy="707886"/>
          </a:xfrm>
          <a:prstGeom prst="rect">
            <a:avLst/>
          </a:prstGeom>
          <a:solidFill>
            <a:schemeClr val="accent1">
              <a:lumMod val="20000"/>
              <a:lumOff val="80000"/>
            </a:schemeClr>
          </a:solidFill>
        </p:spPr>
        <p:txBody>
          <a:bodyPr wrap="square" rtlCol="0">
            <a:spAutoFit/>
          </a:bodyPr>
          <a:lstStyle/>
          <a:p>
            <a:pPr marL="342900" indent="-342900">
              <a:buFont typeface="Arial" panose="020B0604020202020204" pitchFamily="34" charset="0"/>
              <a:buChar char="•"/>
            </a:pPr>
            <a:r>
              <a:rPr lang="en-IN" sz="2000" dirty="0" smtClean="0"/>
              <a:t>Existing DMB testing methods at mostly designed for offline testing </a:t>
            </a:r>
          </a:p>
          <a:p>
            <a:pPr marL="342900" indent="-342900">
              <a:buFont typeface="Arial" panose="020B0604020202020204" pitchFamily="34" charset="0"/>
              <a:buChar char="•"/>
            </a:pPr>
            <a:r>
              <a:rPr lang="en-IN" sz="2000" dirty="0" smtClean="0"/>
              <a:t>Limitation: can’t detect runtime fault</a:t>
            </a:r>
            <a:endParaRPr lang="en-IN" sz="2000" dirty="0"/>
          </a:p>
        </p:txBody>
      </p:sp>
      <p:sp>
        <p:nvSpPr>
          <p:cNvPr id="10" name="TextBox 9"/>
          <p:cNvSpPr txBox="1"/>
          <p:nvPr/>
        </p:nvSpPr>
        <p:spPr>
          <a:xfrm>
            <a:off x="666205" y="2020907"/>
            <a:ext cx="9516003" cy="1015663"/>
          </a:xfrm>
          <a:prstGeom prst="rect">
            <a:avLst/>
          </a:prstGeom>
          <a:solidFill>
            <a:schemeClr val="accent1">
              <a:lumMod val="40000"/>
              <a:lumOff val="60000"/>
            </a:schemeClr>
          </a:solidFill>
        </p:spPr>
        <p:txBody>
          <a:bodyPr wrap="square" rtlCol="0">
            <a:spAutoFit/>
          </a:bodyPr>
          <a:lstStyle/>
          <a:p>
            <a:pPr marL="342900" indent="-342900">
              <a:buFont typeface="Arial" panose="020B0604020202020204" pitchFamily="34" charset="0"/>
              <a:buChar char="•"/>
            </a:pPr>
            <a:r>
              <a:rPr lang="en-IN" sz="2000" dirty="0" smtClean="0"/>
              <a:t>Existing In-field DMB testing methods use SAT solvers to find a test plan </a:t>
            </a:r>
            <a:br>
              <a:rPr lang="en-IN" sz="2000" dirty="0" smtClean="0"/>
            </a:br>
            <a:r>
              <a:rPr lang="en-IN" sz="2000" dirty="0" smtClean="0"/>
              <a:t>(test droplet routing path + scheduling) </a:t>
            </a:r>
          </a:p>
          <a:p>
            <a:pPr marL="342900" indent="-342900">
              <a:buFont typeface="Arial" panose="020B0604020202020204" pitchFamily="34" charset="0"/>
              <a:buChar char="•"/>
            </a:pPr>
            <a:r>
              <a:rPr lang="en-IN" sz="2000" dirty="0" smtClean="0"/>
              <a:t>Limitation: not scalable</a:t>
            </a:r>
            <a:endParaRPr lang="en-IN" sz="2000" dirty="0"/>
          </a:p>
        </p:txBody>
      </p:sp>
      <p:sp>
        <p:nvSpPr>
          <p:cNvPr id="11" name="TextBox 10"/>
          <p:cNvSpPr txBox="1"/>
          <p:nvPr/>
        </p:nvSpPr>
        <p:spPr>
          <a:xfrm>
            <a:off x="666205" y="3369877"/>
            <a:ext cx="9516003" cy="1015663"/>
          </a:xfrm>
          <a:prstGeom prst="rect">
            <a:avLst/>
          </a:prstGeom>
          <a:solidFill>
            <a:schemeClr val="accent1">
              <a:lumMod val="60000"/>
              <a:lumOff val="40000"/>
            </a:schemeClr>
          </a:solidFill>
        </p:spPr>
        <p:txBody>
          <a:bodyPr wrap="none" rtlCol="0">
            <a:spAutoFit/>
          </a:bodyPr>
          <a:lstStyle/>
          <a:p>
            <a:pPr marL="342900" indent="-342900">
              <a:buFont typeface="Arial" panose="020B0604020202020204" pitchFamily="34" charset="0"/>
              <a:buChar char="•"/>
            </a:pPr>
            <a:r>
              <a:rPr lang="en-IN" sz="2000" dirty="0" smtClean="0"/>
              <a:t>Recently, deep-RL has </a:t>
            </a:r>
            <a:r>
              <a:rPr lang="en-IN" sz="2000" dirty="0"/>
              <a:t>gained attention for scalable and adaptive droplet </a:t>
            </a:r>
            <a:r>
              <a:rPr lang="en-IN" sz="2000" dirty="0" smtClean="0"/>
              <a:t>routing [Refs]</a:t>
            </a:r>
          </a:p>
          <a:p>
            <a:pPr marL="342900" indent="-342900">
              <a:buFont typeface="Arial" panose="020B0604020202020204" pitchFamily="34" charset="0"/>
              <a:buChar char="•"/>
            </a:pPr>
            <a:r>
              <a:rPr lang="en-IN" sz="2000" dirty="0" smtClean="0"/>
              <a:t>Limitation: Training deep-RL model is difficult and computationally expensive </a:t>
            </a:r>
          </a:p>
          <a:p>
            <a:pPr marL="342900" indent="-342900">
              <a:buFont typeface="Arial" panose="020B0604020202020204" pitchFamily="34" charset="0"/>
              <a:buChar char="•"/>
            </a:pPr>
            <a:r>
              <a:rPr lang="en-IN" sz="2000" dirty="0" smtClean="0"/>
              <a:t>No deep-RL based in-field testing was proposed</a:t>
            </a:r>
          </a:p>
        </p:txBody>
      </p:sp>
      <p:sp>
        <p:nvSpPr>
          <p:cNvPr id="12" name="TextBox 11"/>
          <p:cNvSpPr txBox="1"/>
          <p:nvPr/>
        </p:nvSpPr>
        <p:spPr>
          <a:xfrm>
            <a:off x="666205" y="4725134"/>
            <a:ext cx="9516003" cy="1631216"/>
          </a:xfrm>
          <a:prstGeom prst="rect">
            <a:avLst/>
          </a:prstGeom>
          <a:solidFill>
            <a:schemeClr val="accent2">
              <a:lumMod val="60000"/>
              <a:lumOff val="40000"/>
            </a:schemeClr>
          </a:solidFill>
        </p:spPr>
        <p:txBody>
          <a:bodyPr wrap="square" rtlCol="0">
            <a:spAutoFit/>
          </a:bodyPr>
          <a:lstStyle/>
          <a:p>
            <a:pPr marL="342900" indent="-342900">
              <a:buFont typeface="Arial" panose="020B0604020202020204" pitchFamily="34" charset="0"/>
              <a:buChar char="•"/>
            </a:pPr>
            <a:r>
              <a:rPr lang="en-IN" sz="2000" dirty="0" smtClean="0"/>
              <a:t>Proposed method leverage tabular RL for finding in-field test plan</a:t>
            </a:r>
          </a:p>
          <a:p>
            <a:pPr marL="342900" indent="-342900">
              <a:buFont typeface="Arial" panose="020B0604020202020204" pitchFamily="34" charset="0"/>
              <a:buChar char="•"/>
            </a:pPr>
            <a:r>
              <a:rPr lang="en-IN" sz="2000" dirty="0" smtClean="0"/>
              <a:t>Advantages:</a:t>
            </a:r>
          </a:p>
          <a:p>
            <a:pPr marL="342900" indent="-342900">
              <a:buFont typeface="Arial" panose="020B0604020202020204" pitchFamily="34" charset="0"/>
              <a:buChar char="•"/>
            </a:pPr>
            <a:r>
              <a:rPr lang="en-IN" sz="2000" dirty="0" smtClean="0"/>
              <a:t>Easy to train</a:t>
            </a:r>
          </a:p>
          <a:p>
            <a:pPr marL="342900" indent="-342900">
              <a:buFont typeface="Arial" panose="020B0604020202020204" pitchFamily="34" charset="0"/>
              <a:buChar char="•"/>
            </a:pPr>
            <a:r>
              <a:rPr lang="en-IN" sz="2000" dirty="0" smtClean="0"/>
              <a:t>Converge to an  optimal solution over long run </a:t>
            </a:r>
          </a:p>
          <a:p>
            <a:pPr marL="342900" indent="-342900">
              <a:buFont typeface="Arial" panose="020B0604020202020204" pitchFamily="34" charset="0"/>
              <a:buChar char="•"/>
            </a:pPr>
            <a:r>
              <a:rPr lang="en-IN" sz="2000" dirty="0" smtClean="0"/>
              <a:t>Scalable to DMB grid up to size 50 x 50 </a:t>
            </a:r>
            <a:endParaRPr lang="en-IN" sz="2000" dirty="0"/>
          </a:p>
        </p:txBody>
      </p:sp>
      <p:sp>
        <p:nvSpPr>
          <p:cNvPr id="13" name="Title 1"/>
          <p:cNvSpPr txBox="1">
            <a:spLocks/>
          </p:cNvSpPr>
          <p:nvPr/>
        </p:nvSpPr>
        <p:spPr>
          <a:xfrm>
            <a:off x="0" y="-3956"/>
            <a:ext cx="12192000" cy="7707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000" b="1" dirty="0"/>
              <a:t>Limitation of Existing DMB Testing</a:t>
            </a:r>
          </a:p>
        </p:txBody>
      </p:sp>
    </p:spTree>
    <p:extLst>
      <p:ext uri="{BB962C8B-B14F-4D97-AF65-F5344CB8AC3E}">
        <p14:creationId xmlns:p14="http://schemas.microsoft.com/office/powerpoint/2010/main" val="38938947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836023"/>
          </a:xfrm>
        </p:spPr>
        <p:txBody>
          <a:bodyPr>
            <a:normAutofit/>
          </a:bodyPr>
          <a:lstStyle/>
          <a:p>
            <a:pPr algn="ctr"/>
            <a:r>
              <a:rPr lang="en-US" sz="4000" b="1" dirty="0"/>
              <a:t>Background of Reinforcement Learning </a:t>
            </a:r>
            <a:endParaRPr lang="en-IN" sz="4000" b="1" dirty="0"/>
          </a:p>
        </p:txBody>
      </p:sp>
      <p:sp>
        <p:nvSpPr>
          <p:cNvPr id="3" name="Content Placeholder 2"/>
          <p:cNvSpPr>
            <a:spLocks noGrp="1"/>
          </p:cNvSpPr>
          <p:nvPr>
            <p:ph idx="1"/>
          </p:nvPr>
        </p:nvSpPr>
        <p:spPr>
          <a:xfrm>
            <a:off x="544286" y="1198607"/>
            <a:ext cx="10515600" cy="5157743"/>
          </a:xfrm>
        </p:spPr>
        <p:txBody>
          <a:bodyPr>
            <a:normAutofit/>
          </a:bodyPr>
          <a:lstStyle/>
          <a:p>
            <a:r>
              <a:rPr lang="en-US" sz="2400" dirty="0"/>
              <a:t>Reinforcement Learning (RL) is a learning paradigm where </a:t>
            </a:r>
            <a:r>
              <a:rPr lang="en-US" sz="2400" dirty="0" smtClean="0"/>
              <a:t>an agent </a:t>
            </a:r>
            <a:r>
              <a:rPr lang="en-US" sz="2400" dirty="0"/>
              <a:t>learns to make decisions by interacting with an environment.</a:t>
            </a:r>
          </a:p>
          <a:p>
            <a:r>
              <a:rPr lang="en-US" sz="2400" dirty="0" smtClean="0"/>
              <a:t>The </a:t>
            </a:r>
            <a:r>
              <a:rPr lang="en-US" sz="2400" dirty="0"/>
              <a:t>goal is to learn a policy that maximizes the </a:t>
            </a:r>
            <a:r>
              <a:rPr lang="en-US" sz="2400" dirty="0" smtClean="0"/>
              <a:t>cumulative reward </a:t>
            </a:r>
            <a:r>
              <a:rPr lang="en-US" sz="2400" dirty="0"/>
              <a:t>over time</a:t>
            </a:r>
            <a:r>
              <a:rPr lang="en-US" sz="2400" dirty="0" smtClean="0"/>
              <a:t>.</a:t>
            </a:r>
            <a:endParaRPr lang="en-US" sz="2400" dirty="0"/>
          </a:p>
          <a:p>
            <a:r>
              <a:rPr lang="en-US" sz="2400" dirty="0" smtClean="0"/>
              <a:t>At </a:t>
            </a:r>
            <a:r>
              <a:rPr lang="en-US" sz="2400" dirty="0"/>
              <a:t>each time step t, the agent:</a:t>
            </a:r>
          </a:p>
          <a:p>
            <a:pPr lvl="1"/>
            <a:r>
              <a:rPr lang="en-US" sz="2000" dirty="0" smtClean="0"/>
              <a:t>observes </a:t>
            </a:r>
            <a:r>
              <a:rPr lang="en-US" sz="2000" dirty="0"/>
              <a:t>the current state </a:t>
            </a:r>
            <a:r>
              <a:rPr lang="en-US" sz="2000" dirty="0" err="1"/>
              <a:t>s</a:t>
            </a:r>
            <a:r>
              <a:rPr lang="en-US" sz="2000" baseline="-25000" dirty="0" err="1"/>
              <a:t>t</a:t>
            </a:r>
            <a:r>
              <a:rPr lang="en-US" sz="2000" dirty="0"/>
              <a:t>,</a:t>
            </a:r>
          </a:p>
          <a:p>
            <a:pPr lvl="1"/>
            <a:r>
              <a:rPr lang="en-US" sz="2000" dirty="0" smtClean="0"/>
              <a:t>selects </a:t>
            </a:r>
            <a:r>
              <a:rPr lang="en-US" sz="2000" dirty="0"/>
              <a:t>an action a</a:t>
            </a:r>
            <a:r>
              <a:rPr lang="en-US" sz="2000" baseline="-25000" dirty="0"/>
              <a:t>t</a:t>
            </a:r>
            <a:r>
              <a:rPr lang="en-US" sz="2000" dirty="0"/>
              <a:t>,</a:t>
            </a:r>
          </a:p>
          <a:p>
            <a:pPr lvl="1"/>
            <a:r>
              <a:rPr lang="en-US" sz="2000" dirty="0" smtClean="0"/>
              <a:t>receives </a:t>
            </a:r>
            <a:r>
              <a:rPr lang="en-US" sz="2000" dirty="0"/>
              <a:t>a reward </a:t>
            </a:r>
            <a:r>
              <a:rPr lang="en-US" sz="2000" dirty="0" err="1"/>
              <a:t>r</a:t>
            </a:r>
            <a:r>
              <a:rPr lang="en-US" sz="2000" baseline="-25000" dirty="0" err="1"/>
              <a:t>t</a:t>
            </a:r>
            <a:r>
              <a:rPr lang="en-US" sz="2000" dirty="0"/>
              <a:t>,</a:t>
            </a:r>
          </a:p>
          <a:p>
            <a:pPr lvl="1"/>
            <a:r>
              <a:rPr lang="en-US" sz="2000" dirty="0" smtClean="0"/>
              <a:t>transitions </a:t>
            </a:r>
            <a:r>
              <a:rPr lang="en-US" sz="2000" dirty="0"/>
              <a:t>to the next state </a:t>
            </a:r>
            <a:r>
              <a:rPr lang="en-US" sz="2000" dirty="0" smtClean="0"/>
              <a:t>s</a:t>
            </a:r>
            <a:r>
              <a:rPr lang="en-US" sz="2000" baseline="-25000" dirty="0" smtClean="0"/>
              <a:t>t+1</a:t>
            </a:r>
            <a:r>
              <a:rPr lang="en-US" sz="2000" dirty="0" smtClean="0"/>
              <a:t>.</a:t>
            </a:r>
          </a:p>
          <a:p>
            <a:r>
              <a:rPr lang="en-US" sz="2400" dirty="0" smtClean="0"/>
              <a:t>The </a:t>
            </a:r>
            <a:r>
              <a:rPr lang="en-US" sz="2400" dirty="0"/>
              <a:t>agent learns from trial and error </a:t>
            </a:r>
            <a:r>
              <a:rPr lang="en-US" sz="2400" dirty="0" smtClean="0"/>
              <a:t/>
            </a:r>
            <a:br>
              <a:rPr lang="en-US" sz="2400" dirty="0" smtClean="0"/>
            </a:br>
            <a:r>
              <a:rPr lang="en-US" sz="2400" dirty="0" smtClean="0"/>
              <a:t>using </a:t>
            </a:r>
            <a:r>
              <a:rPr lang="en-US" sz="2400" dirty="0"/>
              <a:t>the reward signals </a:t>
            </a:r>
            <a:r>
              <a:rPr lang="en-US" sz="2400" dirty="0" smtClean="0"/>
              <a:t>to improve </a:t>
            </a:r>
            <a:r>
              <a:rPr lang="en-US" sz="2400" dirty="0"/>
              <a:t>its actions.</a:t>
            </a:r>
            <a:endParaRPr lang="en-IN" sz="2400" dirty="0"/>
          </a:p>
        </p:txBody>
      </p:sp>
      <p:sp>
        <p:nvSpPr>
          <p:cNvPr id="4" name="Date Placeholder 3"/>
          <p:cNvSpPr>
            <a:spLocks noGrp="1"/>
          </p:cNvSpPr>
          <p:nvPr>
            <p:ph type="dt" sz="half" idx="10"/>
          </p:nvPr>
        </p:nvSpPr>
        <p:spPr/>
        <p:txBody>
          <a:bodyPr/>
          <a:lstStyle/>
          <a:p>
            <a:fld id="{C9B4C238-C3D5-4DA5-A3A6-25B26D60051F}" type="datetime3">
              <a:rPr lang="en-IN" smtClean="0"/>
              <a:t>13 June 2025</a:t>
            </a:fld>
            <a:endParaRPr lang="en-IN"/>
          </a:p>
        </p:txBody>
      </p:sp>
      <p:sp>
        <p:nvSpPr>
          <p:cNvPr id="5" name="Footer Placeholder 4"/>
          <p:cNvSpPr>
            <a:spLocks noGrp="1"/>
          </p:cNvSpPr>
          <p:nvPr>
            <p:ph type="ftr" sz="quarter" idx="11"/>
          </p:nvPr>
        </p:nvSpPr>
        <p:spPr/>
        <p:txBody>
          <a:bodyPr/>
          <a:lstStyle/>
          <a:p>
            <a:r>
              <a:rPr lang="en-IN" dirty="0" smtClean="0"/>
              <a:t>In-Field Testing of DMB</a:t>
            </a:r>
            <a:endParaRPr lang="en-IN" dirty="0"/>
          </a:p>
        </p:txBody>
      </p:sp>
      <p:sp>
        <p:nvSpPr>
          <p:cNvPr id="6" name="Slide Number Placeholder 5"/>
          <p:cNvSpPr>
            <a:spLocks noGrp="1"/>
          </p:cNvSpPr>
          <p:nvPr>
            <p:ph type="sldNum" sz="quarter" idx="12"/>
          </p:nvPr>
        </p:nvSpPr>
        <p:spPr/>
        <p:txBody>
          <a:bodyPr/>
          <a:lstStyle/>
          <a:p>
            <a:fld id="{AF4D6369-262A-4935-8BA4-DEA08C81E600}" type="slidenum">
              <a:rPr lang="en-IN" smtClean="0"/>
              <a:t>10</a:t>
            </a:fld>
            <a:endParaRPr lang="en-IN"/>
          </a:p>
        </p:txBody>
      </p:sp>
      <p:pic>
        <p:nvPicPr>
          <p:cNvPr id="7" name="Content Placeholder 6"/>
          <p:cNvPicPr>
            <a:picLocks noChangeAspect="1"/>
          </p:cNvPicPr>
          <p:nvPr/>
        </p:nvPicPr>
        <p:blipFill>
          <a:blip r:embed="rId2"/>
          <a:stretch>
            <a:fillRect/>
          </a:stretch>
        </p:blipFill>
        <p:spPr>
          <a:xfrm>
            <a:off x="7551107" y="2650603"/>
            <a:ext cx="3631058" cy="2222581"/>
          </a:xfrm>
          <a:prstGeom prst="rect">
            <a:avLst/>
          </a:prstGeom>
        </p:spPr>
      </p:pic>
      <p:sp>
        <p:nvSpPr>
          <p:cNvPr id="8" name="TextBox 7"/>
          <p:cNvSpPr txBox="1"/>
          <p:nvPr/>
        </p:nvSpPr>
        <p:spPr>
          <a:xfrm>
            <a:off x="7417403" y="4873184"/>
            <a:ext cx="4179651" cy="646331"/>
          </a:xfrm>
          <a:prstGeom prst="rect">
            <a:avLst/>
          </a:prstGeom>
          <a:noFill/>
        </p:spPr>
        <p:txBody>
          <a:bodyPr wrap="square" rtlCol="0">
            <a:spAutoFit/>
          </a:bodyPr>
          <a:lstStyle/>
          <a:p>
            <a:r>
              <a:rPr lang="en-IN" b="1" dirty="0"/>
              <a:t>Figure 3: Agent–Environment interaction in a Markov decision process.</a:t>
            </a:r>
          </a:p>
        </p:txBody>
      </p:sp>
    </p:spTree>
    <p:extLst>
      <p:ext uri="{BB962C8B-B14F-4D97-AF65-F5344CB8AC3E}">
        <p14:creationId xmlns:p14="http://schemas.microsoft.com/office/powerpoint/2010/main" val="33160940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28863" cy="790303"/>
          </a:xfrm>
        </p:spPr>
        <p:txBody>
          <a:bodyPr>
            <a:normAutofit/>
          </a:bodyPr>
          <a:lstStyle/>
          <a:p>
            <a:pPr algn="ctr"/>
            <a:r>
              <a:rPr lang="en-IN" sz="4000" b="1" dirty="0" smtClean="0"/>
              <a:t>Q-Learning Algorithm</a:t>
            </a:r>
            <a:endParaRPr lang="en-IN" sz="4000" b="1" dirty="0"/>
          </a:p>
        </p:txBody>
      </p:sp>
      <p:sp>
        <p:nvSpPr>
          <p:cNvPr id="3" name="Content Placeholder 2"/>
          <p:cNvSpPr>
            <a:spLocks noGrp="1"/>
          </p:cNvSpPr>
          <p:nvPr>
            <p:ph idx="1"/>
          </p:nvPr>
        </p:nvSpPr>
        <p:spPr>
          <a:xfrm>
            <a:off x="838200" y="1006997"/>
            <a:ext cx="10515600" cy="5349353"/>
          </a:xfrm>
        </p:spPr>
        <p:txBody>
          <a:bodyPr>
            <a:normAutofit/>
          </a:bodyPr>
          <a:lstStyle/>
          <a:p>
            <a:pPr marL="285750" indent="-285750"/>
            <a:r>
              <a:rPr lang="en-US" sz="2600" b="1" dirty="0"/>
              <a:t>Q-Learning</a:t>
            </a:r>
            <a:r>
              <a:rPr lang="en-US" sz="2600" dirty="0"/>
              <a:t> is a value-based, off-policy RL algorithm. </a:t>
            </a:r>
          </a:p>
          <a:p>
            <a:pPr marL="285750" indent="-285750"/>
            <a:r>
              <a:rPr lang="en-US" sz="2600" dirty="0"/>
              <a:t>It learns the optimal action-value function </a:t>
            </a:r>
            <a:r>
              <a:rPr lang="en-US" sz="2600" b="1" dirty="0"/>
              <a:t>Q</a:t>
            </a:r>
            <a:r>
              <a:rPr lang="en-US" sz="2600" b="1" baseline="30000" dirty="0"/>
              <a:t>∗</a:t>
            </a:r>
            <a:r>
              <a:rPr lang="en-US" sz="2600" b="1" dirty="0"/>
              <a:t>(</a:t>
            </a:r>
            <a:r>
              <a:rPr lang="en-US" sz="2600" b="1" dirty="0" err="1"/>
              <a:t>s,a</a:t>
            </a:r>
            <a:r>
              <a:rPr lang="en-US" sz="2600" b="1" dirty="0"/>
              <a:t>)</a:t>
            </a:r>
            <a:r>
              <a:rPr lang="en-US" sz="2600" dirty="0"/>
              <a:t> which estimates the expected return for taking action a in state s and following the optimal policy thereafter</a:t>
            </a:r>
            <a:r>
              <a:rPr lang="en-US" sz="2600" dirty="0" smtClean="0"/>
              <a:t>.</a:t>
            </a:r>
          </a:p>
          <a:p>
            <a:r>
              <a:rPr lang="en-US" sz="2600" dirty="0" smtClean="0"/>
              <a:t>Update </a:t>
            </a:r>
            <a:r>
              <a:rPr lang="en-US" sz="2600" dirty="0"/>
              <a:t>Rule:</a:t>
            </a:r>
            <a:endParaRPr lang="en-US" sz="2600" b="1" dirty="0"/>
          </a:p>
          <a:p>
            <a:pPr lvl="1"/>
            <a:r>
              <a:rPr lang="en-US" sz="3200" b="1" dirty="0" smtClean="0"/>
              <a:t>Q(</a:t>
            </a:r>
            <a:r>
              <a:rPr lang="en-US" sz="3200" b="1" dirty="0" err="1" smtClean="0"/>
              <a:t>s</a:t>
            </a:r>
            <a:r>
              <a:rPr lang="en-US" sz="3200" b="1" baseline="-25000" dirty="0" err="1" smtClean="0"/>
              <a:t>t</a:t>
            </a:r>
            <a:r>
              <a:rPr lang="en-US" sz="3200" b="1" dirty="0" err="1" smtClean="0"/>
              <a:t>,a</a:t>
            </a:r>
            <a:r>
              <a:rPr lang="en-US" sz="3200" b="1" baseline="-25000" dirty="0" err="1" smtClean="0"/>
              <a:t>t</a:t>
            </a:r>
            <a:r>
              <a:rPr lang="en-US" sz="3200" b="1" dirty="0"/>
              <a:t>) ← Q(</a:t>
            </a:r>
            <a:r>
              <a:rPr lang="en-US" sz="3200" b="1" dirty="0" err="1"/>
              <a:t>s</a:t>
            </a:r>
            <a:r>
              <a:rPr lang="en-US" sz="3200" b="1" baseline="-25000" dirty="0" err="1"/>
              <a:t>t</a:t>
            </a:r>
            <a:r>
              <a:rPr lang="en-US" sz="3200" b="1" dirty="0" err="1"/>
              <a:t>,a</a:t>
            </a:r>
            <a:r>
              <a:rPr lang="en-US" sz="3200" b="1" baseline="-25000" dirty="0" err="1"/>
              <a:t>t</a:t>
            </a:r>
            <a:r>
              <a:rPr lang="en-US" sz="3200" b="1" dirty="0"/>
              <a:t>) + </a:t>
            </a:r>
            <a:r>
              <a:rPr lang="en-US" sz="3200" b="1" dirty="0" smtClean="0"/>
              <a:t>α</a:t>
            </a:r>
            <a:r>
              <a:rPr lang="en-US" sz="5400" dirty="0" smtClean="0"/>
              <a:t>[</a:t>
            </a:r>
            <a:r>
              <a:rPr lang="en-US" sz="3200" b="1" dirty="0" err="1" smtClean="0"/>
              <a:t>r</a:t>
            </a:r>
            <a:r>
              <a:rPr lang="en-US" sz="3200" b="1" baseline="-25000" dirty="0" err="1" smtClean="0"/>
              <a:t>t</a:t>
            </a:r>
            <a:r>
              <a:rPr lang="en-US" sz="3200" b="1" dirty="0" err="1" smtClean="0"/>
              <a:t>+γ</a:t>
            </a:r>
            <a:r>
              <a:rPr lang="en-US" sz="3200" b="1" dirty="0" smtClean="0"/>
              <a:t> </a:t>
            </a:r>
            <a:r>
              <a:rPr lang="en-US" sz="3200" b="1" dirty="0" err="1" smtClean="0"/>
              <a:t>max</a:t>
            </a:r>
            <a:r>
              <a:rPr lang="en-US" sz="3200" b="1" baseline="-25000" dirty="0" err="1" smtClean="0"/>
              <a:t>a′</a:t>
            </a:r>
            <a:r>
              <a:rPr lang="en-US" sz="3200" b="1" dirty="0" err="1" smtClean="0"/>
              <a:t>Q</a:t>
            </a:r>
            <a:r>
              <a:rPr lang="en-US" sz="3200" b="1" dirty="0" smtClean="0"/>
              <a:t>(s</a:t>
            </a:r>
            <a:r>
              <a:rPr lang="en-US" sz="3200" b="1" baseline="-25000" dirty="0" smtClean="0"/>
              <a:t>t+1</a:t>
            </a:r>
            <a:r>
              <a:rPr lang="en-US" sz="3200" b="1" dirty="0" smtClean="0"/>
              <a:t>,a</a:t>
            </a:r>
            <a:r>
              <a:rPr lang="en-US" sz="3200" b="1" dirty="0"/>
              <a:t>′) − Q(</a:t>
            </a:r>
            <a:r>
              <a:rPr lang="en-US" sz="3200" b="1" dirty="0" err="1"/>
              <a:t>s</a:t>
            </a:r>
            <a:r>
              <a:rPr lang="en-US" sz="3200" b="1" baseline="-25000" dirty="0" err="1"/>
              <a:t>t</a:t>
            </a:r>
            <a:r>
              <a:rPr lang="en-US" sz="3200" b="1" dirty="0" err="1"/>
              <a:t>,a</a:t>
            </a:r>
            <a:r>
              <a:rPr lang="en-US" sz="3200" b="1" baseline="-25000" dirty="0" err="1"/>
              <a:t>t</a:t>
            </a:r>
            <a:r>
              <a:rPr lang="en-US" sz="3200" b="1" dirty="0" smtClean="0"/>
              <a:t>)</a:t>
            </a:r>
            <a:r>
              <a:rPr lang="en-US" sz="5400" dirty="0" smtClean="0"/>
              <a:t>]</a:t>
            </a:r>
            <a:endParaRPr lang="en-US" sz="3200" dirty="0"/>
          </a:p>
          <a:p>
            <a:pPr lvl="2"/>
            <a:r>
              <a:rPr lang="en-US" sz="2200" dirty="0" smtClean="0"/>
              <a:t>α </a:t>
            </a:r>
            <a:r>
              <a:rPr lang="en-US" sz="2200" dirty="0"/>
              <a:t>=learning rate</a:t>
            </a:r>
          </a:p>
          <a:p>
            <a:pPr lvl="2"/>
            <a:r>
              <a:rPr lang="en-US" sz="2200" dirty="0" smtClean="0"/>
              <a:t>γ </a:t>
            </a:r>
            <a:r>
              <a:rPr lang="en-US" sz="2200" dirty="0"/>
              <a:t>=discount factor</a:t>
            </a:r>
          </a:p>
          <a:p>
            <a:r>
              <a:rPr lang="en-US" sz="2600" dirty="0" smtClean="0"/>
              <a:t>Converges </a:t>
            </a:r>
            <a:r>
              <a:rPr lang="en-US" sz="2600" dirty="0"/>
              <a:t>to optimal Q-values with sufficient exploration </a:t>
            </a:r>
            <a:r>
              <a:rPr lang="en-US" sz="2600" dirty="0" smtClean="0"/>
              <a:t>and learning </a:t>
            </a:r>
            <a:r>
              <a:rPr lang="en-US" sz="2600" dirty="0"/>
              <a:t>iterations.</a:t>
            </a:r>
          </a:p>
          <a:p>
            <a:r>
              <a:rPr lang="en-US" sz="2600" dirty="0" smtClean="0"/>
              <a:t>Action </a:t>
            </a:r>
            <a:r>
              <a:rPr lang="en-US" sz="2600" dirty="0"/>
              <a:t>selection is often done using </a:t>
            </a:r>
            <a:r>
              <a:rPr lang="en-US" sz="2600" b="1" dirty="0"/>
              <a:t>ϵ-greedy </a:t>
            </a:r>
            <a:r>
              <a:rPr lang="en-US" sz="2600" dirty="0"/>
              <a:t>policy.</a:t>
            </a:r>
            <a:endParaRPr lang="en-IN" sz="2600" dirty="0"/>
          </a:p>
        </p:txBody>
      </p:sp>
      <p:sp>
        <p:nvSpPr>
          <p:cNvPr id="4" name="Date Placeholder 3"/>
          <p:cNvSpPr>
            <a:spLocks noGrp="1"/>
          </p:cNvSpPr>
          <p:nvPr>
            <p:ph type="dt" sz="half" idx="10"/>
          </p:nvPr>
        </p:nvSpPr>
        <p:spPr/>
        <p:txBody>
          <a:bodyPr/>
          <a:lstStyle/>
          <a:p>
            <a:fld id="{CFA255E6-F34D-4C04-8FCC-D9A3B7A36332}"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11</a:t>
            </a:fld>
            <a:endParaRPr lang="en-IN"/>
          </a:p>
        </p:txBody>
      </p:sp>
    </p:spTree>
    <p:extLst>
      <p:ext uri="{BB962C8B-B14F-4D97-AF65-F5344CB8AC3E}">
        <p14:creationId xmlns:p14="http://schemas.microsoft.com/office/powerpoint/2010/main" val="25681538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38051"/>
          </a:xfrm>
        </p:spPr>
        <p:txBody>
          <a:bodyPr>
            <a:normAutofit/>
          </a:bodyPr>
          <a:lstStyle/>
          <a:p>
            <a:pPr algn="ctr"/>
            <a:r>
              <a:rPr lang="en-US" sz="4000" b="1" dirty="0"/>
              <a:t>Reinforcement Learning-Based In-Field </a:t>
            </a:r>
            <a:r>
              <a:rPr lang="en-US" sz="4000" b="1" dirty="0" smtClean="0"/>
              <a:t>Testing</a:t>
            </a:r>
            <a:endParaRPr lang="en-IN" sz="4000" b="1" dirty="0"/>
          </a:p>
        </p:txBody>
      </p:sp>
      <p:sp>
        <p:nvSpPr>
          <p:cNvPr id="3" name="Content Placeholder 2"/>
          <p:cNvSpPr>
            <a:spLocks noGrp="1"/>
          </p:cNvSpPr>
          <p:nvPr>
            <p:ph idx="1"/>
          </p:nvPr>
        </p:nvSpPr>
        <p:spPr>
          <a:xfrm>
            <a:off x="328749" y="779667"/>
            <a:ext cx="8033238" cy="2731041"/>
          </a:xfrm>
        </p:spPr>
        <p:txBody>
          <a:bodyPr>
            <a:normAutofit/>
          </a:bodyPr>
          <a:lstStyle/>
          <a:p>
            <a:r>
              <a:rPr lang="en-US" sz="2400" dirty="0" smtClean="0"/>
              <a:t>An </a:t>
            </a:r>
            <a:r>
              <a:rPr lang="en-US" sz="2400" b="1" dirty="0"/>
              <a:t>MDP</a:t>
            </a:r>
            <a:r>
              <a:rPr lang="en-US" sz="2400" dirty="0"/>
              <a:t> </a:t>
            </a:r>
            <a:r>
              <a:rPr lang="en-US" sz="2400" dirty="0" smtClean="0"/>
              <a:t>modeling of in-field testing </a:t>
            </a:r>
          </a:p>
          <a:p>
            <a:pPr lvl="1"/>
            <a:r>
              <a:rPr lang="en-US" sz="1800" b="1" dirty="0" smtClean="0"/>
              <a:t>States </a:t>
            </a:r>
            <a:r>
              <a:rPr lang="en-US" sz="1800" b="1" dirty="0"/>
              <a:t>(S)</a:t>
            </a:r>
            <a:r>
              <a:rPr lang="en-US" sz="1800" dirty="0"/>
              <a:t>: All possible situations the agent can be in</a:t>
            </a:r>
            <a:r>
              <a:rPr lang="en-US" sz="1800" dirty="0" smtClean="0"/>
              <a:t>.</a:t>
            </a:r>
          </a:p>
          <a:p>
            <a:pPr lvl="1"/>
            <a:r>
              <a:rPr lang="en-US" sz="1800" b="1" dirty="0" smtClean="0"/>
              <a:t>Actions </a:t>
            </a:r>
            <a:r>
              <a:rPr lang="en-US" sz="1800" b="1" dirty="0"/>
              <a:t>(A)</a:t>
            </a:r>
            <a:r>
              <a:rPr lang="en-US" sz="1800" dirty="0"/>
              <a:t>: All possible decisions the agent can make</a:t>
            </a:r>
            <a:r>
              <a:rPr lang="en-US" sz="1800" dirty="0" smtClean="0"/>
              <a:t>.</a:t>
            </a:r>
          </a:p>
          <a:p>
            <a:pPr lvl="1"/>
            <a:r>
              <a:rPr lang="en-US" sz="1800" b="1" dirty="0" smtClean="0"/>
              <a:t>Transition </a:t>
            </a:r>
            <a:r>
              <a:rPr lang="en-US" sz="1800" b="1" dirty="0"/>
              <a:t>Function (T)</a:t>
            </a:r>
            <a:r>
              <a:rPr lang="en-US" sz="1800" dirty="0"/>
              <a:t>: Probability of moving from one state to another given an action</a:t>
            </a:r>
            <a:r>
              <a:rPr lang="en-US" sz="1800" dirty="0" smtClean="0"/>
              <a:t>.</a:t>
            </a:r>
          </a:p>
          <a:p>
            <a:pPr lvl="1"/>
            <a:r>
              <a:rPr lang="en-US" sz="1800" b="1" dirty="0" smtClean="0"/>
              <a:t>Reward </a:t>
            </a:r>
            <a:r>
              <a:rPr lang="en-US" sz="1800" b="1" dirty="0"/>
              <a:t>Function (R)</a:t>
            </a:r>
            <a:r>
              <a:rPr lang="en-US" sz="1800" dirty="0"/>
              <a:t>: Immediate feedback received after transitioning between states</a:t>
            </a:r>
            <a:r>
              <a:rPr lang="en-US" sz="1800" dirty="0" smtClean="0"/>
              <a:t>.</a:t>
            </a:r>
          </a:p>
          <a:p>
            <a:pPr lvl="1"/>
            <a:r>
              <a:rPr lang="en-US" sz="1800" b="1" dirty="0"/>
              <a:t>Discount Factor (γ):</a:t>
            </a:r>
            <a:r>
              <a:rPr lang="en-US" sz="1800" dirty="0"/>
              <a:t> Determines the importance of future rewards (0 ≤ </a:t>
            </a:r>
            <a:r>
              <a:rPr lang="en-US" sz="1800" dirty="0" smtClean="0"/>
              <a:t>γ ≤ 1).</a:t>
            </a:r>
          </a:p>
        </p:txBody>
      </p:sp>
      <p:sp>
        <p:nvSpPr>
          <p:cNvPr id="4" name="Date Placeholder 3"/>
          <p:cNvSpPr>
            <a:spLocks noGrp="1"/>
          </p:cNvSpPr>
          <p:nvPr>
            <p:ph type="dt" sz="half" idx="10"/>
          </p:nvPr>
        </p:nvSpPr>
        <p:spPr/>
        <p:txBody>
          <a:bodyPr/>
          <a:lstStyle/>
          <a:p>
            <a:fld id="{0BEAA8DE-D491-494F-9B46-6740B19C0815}" type="datetime3">
              <a:rPr lang="en-IN" smtClean="0"/>
              <a:t>13 June 2025</a:t>
            </a:fld>
            <a:endParaRPr lang="en-IN" dirty="0"/>
          </a:p>
        </p:txBody>
      </p:sp>
      <p:sp>
        <p:nvSpPr>
          <p:cNvPr id="5" name="Footer Placeholder 4"/>
          <p:cNvSpPr>
            <a:spLocks noGrp="1"/>
          </p:cNvSpPr>
          <p:nvPr>
            <p:ph type="ftr" sz="quarter" idx="11"/>
          </p:nvPr>
        </p:nvSpPr>
        <p:spPr/>
        <p:txBody>
          <a:bodyPr/>
          <a:lstStyle/>
          <a:p>
            <a:r>
              <a:rPr lang="en-IN" dirty="0" smtClean="0"/>
              <a:t>In-Field Testing of DMB</a:t>
            </a:r>
            <a:endParaRPr lang="en-IN" dirty="0"/>
          </a:p>
        </p:txBody>
      </p:sp>
      <p:sp>
        <p:nvSpPr>
          <p:cNvPr id="6" name="Slide Number Placeholder 5"/>
          <p:cNvSpPr>
            <a:spLocks noGrp="1"/>
          </p:cNvSpPr>
          <p:nvPr>
            <p:ph type="sldNum" sz="quarter" idx="12"/>
          </p:nvPr>
        </p:nvSpPr>
        <p:spPr/>
        <p:txBody>
          <a:bodyPr/>
          <a:lstStyle/>
          <a:p>
            <a:fld id="{AF4D6369-262A-4935-8BA4-DEA08C81E600}" type="slidenum">
              <a:rPr lang="en-IN" smtClean="0"/>
              <a:t>12</a:t>
            </a:fld>
            <a:endParaRPr lang="en-IN"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0846" y="779667"/>
            <a:ext cx="2257066" cy="2300471"/>
          </a:xfrm>
          <a:prstGeom prst="rect">
            <a:avLst/>
          </a:prstGeom>
        </p:spPr>
      </p:pic>
      <p:sp>
        <p:nvSpPr>
          <p:cNvPr id="9" name="Content Placeholder 2"/>
          <p:cNvSpPr txBox="1">
            <a:spLocks/>
          </p:cNvSpPr>
          <p:nvPr/>
        </p:nvSpPr>
        <p:spPr>
          <a:xfrm>
            <a:off x="328749" y="3362721"/>
            <a:ext cx="8033238" cy="36052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smtClean="0"/>
              <a:t>Single Agent Solution</a:t>
            </a:r>
          </a:p>
          <a:p>
            <a:pPr lvl="1"/>
            <a:r>
              <a:rPr lang="en-US" sz="1800" b="1" dirty="0" smtClean="0"/>
              <a:t>States (S)</a:t>
            </a:r>
            <a:r>
              <a:rPr lang="en-US" sz="1800" dirty="0"/>
              <a:t>: S</a:t>
            </a:r>
            <a:r>
              <a:rPr lang="en-US" sz="1800" baseline="-25000" dirty="0"/>
              <a:t>t</a:t>
            </a:r>
            <a:r>
              <a:rPr lang="en-US" sz="1800" dirty="0"/>
              <a:t>​ = (</a:t>
            </a:r>
            <a:r>
              <a:rPr lang="en-US" sz="1800" dirty="0" err="1"/>
              <a:t>agent_pos</a:t>
            </a:r>
            <a:r>
              <a:rPr lang="en-US" sz="1800" dirty="0"/>
              <a:t> , </a:t>
            </a:r>
            <a:r>
              <a:rPr lang="en-US" sz="1800" dirty="0" err="1"/>
              <a:t>time_step</a:t>
            </a:r>
            <a:r>
              <a:rPr lang="en-US" sz="1800" dirty="0"/>
              <a:t>) i.e. (</a:t>
            </a:r>
            <a:r>
              <a:rPr lang="en-US" sz="1800" dirty="0" err="1"/>
              <a:t>x,y,t</a:t>
            </a:r>
            <a:r>
              <a:rPr lang="en-US" sz="1800" dirty="0"/>
              <a:t>)</a:t>
            </a:r>
          </a:p>
          <a:p>
            <a:pPr lvl="1"/>
            <a:r>
              <a:rPr lang="en-US" sz="1800" b="1" dirty="0" smtClean="0"/>
              <a:t>Actions (A)</a:t>
            </a:r>
            <a:r>
              <a:rPr lang="en-US" sz="1800" dirty="0"/>
              <a:t>: A = {Up, Down, Left, Right, Stay</a:t>
            </a:r>
            <a:r>
              <a:rPr lang="en-US" sz="1800" dirty="0" smtClean="0"/>
              <a:t>}</a:t>
            </a:r>
          </a:p>
          <a:p>
            <a:pPr lvl="1"/>
            <a:r>
              <a:rPr lang="en-US" sz="1800" b="1" dirty="0" smtClean="0"/>
              <a:t>Transition Function (T)</a:t>
            </a:r>
            <a:r>
              <a:rPr lang="en-US" sz="1800" dirty="0" smtClean="0"/>
              <a:t>: </a:t>
            </a:r>
          </a:p>
          <a:p>
            <a:pPr lvl="1"/>
            <a:endParaRPr lang="en-US" sz="1800" dirty="0" smtClean="0"/>
          </a:p>
          <a:p>
            <a:pPr marL="457200" lvl="1" indent="0">
              <a:buNone/>
            </a:pPr>
            <a:endParaRPr lang="en-US" sz="1800" dirty="0" smtClean="0"/>
          </a:p>
          <a:p>
            <a:pPr lvl="1"/>
            <a:r>
              <a:rPr lang="en-US" sz="1800" b="1" dirty="0" smtClean="0"/>
              <a:t>Reward Function (R)</a:t>
            </a:r>
            <a:r>
              <a:rPr lang="en-US" sz="1800" dirty="0"/>
              <a:t>: +10 for covering a footprint, -20 for colliding with an obstacle, -1 for non-rewarding </a:t>
            </a:r>
            <a:r>
              <a:rPr lang="en-US" sz="1800" dirty="0" smtClean="0"/>
              <a:t>moves</a:t>
            </a:r>
            <a:r>
              <a:rPr lang="en-US" sz="1800" dirty="0"/>
              <a:t> </a:t>
            </a:r>
            <a:r>
              <a:rPr lang="en-US" sz="1800" dirty="0" smtClean="0"/>
              <a:t>and additional </a:t>
            </a:r>
            <a:r>
              <a:rPr lang="en-US" sz="1800" dirty="0"/>
              <a:t>bonus at the end of Episode</a:t>
            </a:r>
            <a:r>
              <a:rPr lang="en-US" sz="1800" dirty="0" smtClean="0"/>
              <a:t>: </a:t>
            </a:r>
            <a:r>
              <a:rPr lang="en-US" sz="1800" dirty="0" err="1"/>
              <a:t>Rt</a:t>
            </a:r>
            <a:r>
              <a:rPr lang="en-US" sz="1800" dirty="0"/>
              <a:t> ​= 50 × (</a:t>
            </a:r>
            <a:r>
              <a:rPr lang="en-US" sz="1800" dirty="0" err="1"/>
              <a:t>total_footprints</a:t>
            </a:r>
            <a:r>
              <a:rPr lang="en-US" sz="1800" dirty="0"/>
              <a:t> / </a:t>
            </a:r>
            <a:r>
              <a:rPr lang="en-US" sz="1800" dirty="0" err="1"/>
              <a:t>covered_footprints</a:t>
            </a:r>
            <a:r>
              <a:rPr lang="en-US" sz="1800" dirty="0"/>
              <a:t>​</a:t>
            </a:r>
            <a:r>
              <a:rPr lang="en-US" sz="1800" dirty="0" smtClean="0"/>
              <a:t>)</a:t>
            </a:r>
          </a:p>
          <a:p>
            <a:pPr lvl="1"/>
            <a:r>
              <a:rPr lang="en-US" sz="1800" b="1" dirty="0" smtClean="0"/>
              <a:t>Discount Factor (γ):</a:t>
            </a:r>
            <a:r>
              <a:rPr lang="en-US" sz="1800" dirty="0" smtClean="0"/>
              <a:t> 0.99</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27356" y="3552325"/>
            <a:ext cx="3440808" cy="3300896"/>
          </a:xfrm>
          <a:prstGeom prst="rect">
            <a:avLst/>
          </a:prstGeom>
        </p:spPr>
      </p:pic>
      <p:pic>
        <p:nvPicPr>
          <p:cNvPr id="11" name="Picture 10"/>
          <p:cNvPicPr>
            <a:picLocks noChangeAspect="1"/>
          </p:cNvPicPr>
          <p:nvPr/>
        </p:nvPicPr>
        <p:blipFill>
          <a:blip r:embed="rId5"/>
          <a:stretch>
            <a:fillRect/>
          </a:stretch>
        </p:blipFill>
        <p:spPr>
          <a:xfrm>
            <a:off x="3407781" y="4368559"/>
            <a:ext cx="3007948" cy="715404"/>
          </a:xfrm>
          <a:prstGeom prst="rect">
            <a:avLst/>
          </a:prstGeom>
        </p:spPr>
      </p:pic>
    </p:spTree>
    <p:extLst>
      <p:ext uri="{BB962C8B-B14F-4D97-AF65-F5344CB8AC3E}">
        <p14:creationId xmlns:p14="http://schemas.microsoft.com/office/powerpoint/2010/main" val="4358815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12128863" cy="685800"/>
          </a:xfrm>
        </p:spPr>
        <p:txBody>
          <a:bodyPr>
            <a:normAutofit fontScale="90000"/>
          </a:bodyPr>
          <a:lstStyle/>
          <a:p>
            <a:pPr algn="ctr"/>
            <a:r>
              <a:rPr lang="en-IN" b="1" dirty="0" smtClean="0"/>
              <a:t>Training of a Single RL Agent</a:t>
            </a:r>
            <a:endParaRPr lang="en-IN" b="1" dirty="0"/>
          </a:p>
        </p:txBody>
      </p:sp>
      <p:sp>
        <p:nvSpPr>
          <p:cNvPr id="4" name="Date Placeholder 3"/>
          <p:cNvSpPr>
            <a:spLocks noGrp="1"/>
          </p:cNvSpPr>
          <p:nvPr>
            <p:ph type="dt" sz="half" idx="10"/>
          </p:nvPr>
        </p:nvSpPr>
        <p:spPr/>
        <p:txBody>
          <a:bodyPr/>
          <a:lstStyle/>
          <a:p>
            <a:fld id="{18DD10AC-3A09-4FE1-9EF0-EA14120A5A6E}"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13</a:t>
            </a:fld>
            <a:endParaRPr lang="en-IN"/>
          </a:p>
        </p:txBody>
      </p:sp>
      <p:sp>
        <p:nvSpPr>
          <p:cNvPr id="3" name="Content Placeholder 2"/>
          <p:cNvSpPr>
            <a:spLocks noGrp="1"/>
          </p:cNvSpPr>
          <p:nvPr>
            <p:ph idx="1"/>
          </p:nvPr>
        </p:nvSpPr>
        <p:spPr/>
        <p:txBody>
          <a:bodyPr/>
          <a:lstStyle/>
          <a:p>
            <a:pPr marL="0" indent="0">
              <a:buNone/>
            </a:pPr>
            <a:r>
              <a:rPr lang="en-IN" dirty="0"/>
              <a:t> </a:t>
            </a:r>
          </a:p>
        </p:txBody>
      </p:sp>
      <p:pic>
        <p:nvPicPr>
          <p:cNvPr id="9" name="Picture 8"/>
          <p:cNvPicPr>
            <a:picLocks noChangeAspect="1"/>
          </p:cNvPicPr>
          <p:nvPr/>
        </p:nvPicPr>
        <p:blipFill>
          <a:blip r:embed="rId2"/>
          <a:stretch>
            <a:fillRect/>
          </a:stretch>
        </p:blipFill>
        <p:spPr>
          <a:xfrm>
            <a:off x="665786" y="1030651"/>
            <a:ext cx="5187148" cy="5178914"/>
          </a:xfrm>
          <a:prstGeom prst="rect">
            <a:avLst/>
          </a:prstGeom>
        </p:spPr>
      </p:pic>
      <p:pic>
        <p:nvPicPr>
          <p:cNvPr id="10"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7163" y="1405247"/>
            <a:ext cx="4992043" cy="3782254"/>
          </a:xfrm>
          <a:prstGeom prst="rect">
            <a:avLst/>
          </a:prstGeom>
        </p:spPr>
      </p:pic>
      <p:sp>
        <p:nvSpPr>
          <p:cNvPr id="11" name="TextBox 10"/>
          <p:cNvSpPr txBox="1"/>
          <p:nvPr/>
        </p:nvSpPr>
        <p:spPr>
          <a:xfrm>
            <a:off x="6886142" y="5470901"/>
            <a:ext cx="5128380" cy="738664"/>
          </a:xfrm>
          <a:prstGeom prst="rect">
            <a:avLst/>
          </a:prstGeom>
          <a:noFill/>
        </p:spPr>
        <p:txBody>
          <a:bodyPr wrap="square" rtlCol="0">
            <a:spAutoFit/>
          </a:bodyPr>
          <a:lstStyle/>
          <a:p>
            <a:r>
              <a:rPr lang="en-US" sz="1400" b="1" dirty="0"/>
              <a:t>Figure 4: Single agent Q-Learning architecture. The agent updates the Q-table during training (left) and uses the </a:t>
            </a:r>
            <a:r>
              <a:rPr lang="en-US" sz="1400" b="1" dirty="0" smtClean="0"/>
              <a:t>optimized </a:t>
            </a:r>
            <a:r>
              <a:rPr lang="en-US" sz="1400" b="1" dirty="0"/>
              <a:t>Q-table to navigate the DMB during deployment (right).</a:t>
            </a:r>
            <a:endParaRPr lang="en-IN" sz="1400" b="1" dirty="0"/>
          </a:p>
        </p:txBody>
      </p:sp>
      <p:sp>
        <p:nvSpPr>
          <p:cNvPr id="12" name="Rectangle 11"/>
          <p:cNvSpPr/>
          <p:nvPr/>
        </p:nvSpPr>
        <p:spPr>
          <a:xfrm>
            <a:off x="1761160" y="4471890"/>
            <a:ext cx="2857500" cy="395654"/>
          </a:xfrm>
          <a:prstGeom prst="rect">
            <a:avLst/>
          </a:prstGeom>
          <a:no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154209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816429"/>
          </a:xfrm>
        </p:spPr>
        <p:txBody>
          <a:bodyPr/>
          <a:lstStyle/>
          <a:p>
            <a:pPr algn="ctr"/>
            <a:r>
              <a:rPr lang="en-IN" b="1" dirty="0" smtClean="0"/>
              <a:t>Learning Curve Analysis</a:t>
            </a:r>
            <a:endParaRPr lang="en-IN" b="1" dirty="0"/>
          </a:p>
        </p:txBody>
      </p:sp>
      <p:pic>
        <p:nvPicPr>
          <p:cNvPr id="7" name="Content Placeholder 6"/>
          <p:cNvPicPr>
            <a:picLocks noGrp="1" noChangeAspect="1"/>
          </p:cNvPicPr>
          <p:nvPr>
            <p:ph idx="1"/>
          </p:nvPr>
        </p:nvPicPr>
        <p:blipFill>
          <a:blip r:embed="rId2"/>
          <a:stretch>
            <a:fillRect/>
          </a:stretch>
        </p:blipFill>
        <p:spPr>
          <a:xfrm>
            <a:off x="838200" y="1643743"/>
            <a:ext cx="4698372" cy="2274643"/>
          </a:xfrm>
          <a:prstGeom prst="rect">
            <a:avLst/>
          </a:prstGeom>
        </p:spPr>
      </p:pic>
      <p:sp>
        <p:nvSpPr>
          <p:cNvPr id="4" name="Date Placeholder 3"/>
          <p:cNvSpPr>
            <a:spLocks noGrp="1"/>
          </p:cNvSpPr>
          <p:nvPr>
            <p:ph type="dt" sz="half" idx="10"/>
          </p:nvPr>
        </p:nvSpPr>
        <p:spPr/>
        <p:txBody>
          <a:bodyPr/>
          <a:lstStyle/>
          <a:p>
            <a:fld id="{EFCBA11F-B836-4726-AB26-D4367F83C1E7}"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14</a:t>
            </a:fld>
            <a:endParaRPr lang="en-IN"/>
          </a:p>
        </p:txBody>
      </p:sp>
      <p:sp>
        <p:nvSpPr>
          <p:cNvPr id="8" name="TextBox 7"/>
          <p:cNvSpPr txBox="1"/>
          <p:nvPr/>
        </p:nvSpPr>
        <p:spPr>
          <a:xfrm>
            <a:off x="1028229" y="4380051"/>
            <a:ext cx="4508343" cy="923330"/>
          </a:xfrm>
          <a:prstGeom prst="rect">
            <a:avLst/>
          </a:prstGeom>
          <a:noFill/>
        </p:spPr>
        <p:txBody>
          <a:bodyPr wrap="square" rtlCol="0">
            <a:spAutoFit/>
          </a:bodyPr>
          <a:lstStyle/>
          <a:p>
            <a:r>
              <a:rPr lang="en-US" b="1" dirty="0"/>
              <a:t>Figure 5: Training performance of the agent on Sequential-mixing assay. The graph shows the reward </a:t>
            </a:r>
            <a:r>
              <a:rPr lang="en-US" b="1" dirty="0" smtClean="0"/>
              <a:t>agent </a:t>
            </a:r>
            <a:r>
              <a:rPr lang="en-US" b="1" dirty="0"/>
              <a:t>obtained per </a:t>
            </a:r>
            <a:r>
              <a:rPr lang="en-US" b="1" dirty="0" smtClean="0"/>
              <a:t>epoch.</a:t>
            </a:r>
            <a:endParaRPr lang="en-IN" b="1" dirty="0"/>
          </a:p>
        </p:txBody>
      </p:sp>
      <p:pic>
        <p:nvPicPr>
          <p:cNvPr id="9" name="Content Placeholder 6"/>
          <p:cNvPicPr>
            <a:picLocks noChangeAspect="1"/>
          </p:cNvPicPr>
          <p:nvPr/>
        </p:nvPicPr>
        <p:blipFill>
          <a:blip r:embed="rId3"/>
          <a:stretch>
            <a:fillRect/>
          </a:stretch>
        </p:blipFill>
        <p:spPr>
          <a:xfrm>
            <a:off x="6096000" y="1620880"/>
            <a:ext cx="4717694" cy="2297506"/>
          </a:xfrm>
          <a:prstGeom prst="rect">
            <a:avLst/>
          </a:prstGeom>
        </p:spPr>
      </p:pic>
      <p:sp>
        <p:nvSpPr>
          <p:cNvPr id="10" name="TextBox 9"/>
          <p:cNvSpPr txBox="1"/>
          <p:nvPr/>
        </p:nvSpPr>
        <p:spPr>
          <a:xfrm>
            <a:off x="6096000" y="4380051"/>
            <a:ext cx="4911969" cy="923330"/>
          </a:xfrm>
          <a:prstGeom prst="rect">
            <a:avLst/>
          </a:prstGeom>
          <a:noFill/>
        </p:spPr>
        <p:txBody>
          <a:bodyPr wrap="square" rtlCol="0">
            <a:spAutoFit/>
          </a:bodyPr>
          <a:lstStyle/>
          <a:p>
            <a:r>
              <a:rPr lang="en-US" b="1" dirty="0"/>
              <a:t>Figure 6: Footprint edges covered per epoch by the agent during training in the Sequential-mixing assay.</a:t>
            </a:r>
            <a:endParaRPr lang="en-IN" b="1" dirty="0"/>
          </a:p>
        </p:txBody>
      </p:sp>
    </p:spTree>
    <p:extLst>
      <p:ext uri="{BB962C8B-B14F-4D97-AF65-F5344CB8AC3E}">
        <p14:creationId xmlns:p14="http://schemas.microsoft.com/office/powerpoint/2010/main" val="38664602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808"/>
            <a:ext cx="12141926" cy="818706"/>
          </a:xfrm>
        </p:spPr>
        <p:txBody>
          <a:bodyPr/>
          <a:lstStyle/>
          <a:p>
            <a:pPr algn="ctr"/>
            <a:r>
              <a:rPr lang="en-US" sz="4000" b="1" dirty="0">
                <a:solidFill>
                  <a:prstClr val="black"/>
                </a:solidFill>
              </a:rPr>
              <a:t>Test Path Planning: SAT-Based vs Proposed Method</a:t>
            </a:r>
            <a:endParaRPr lang="en-IN"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0775" y="1408936"/>
            <a:ext cx="8970450" cy="4351338"/>
          </a:xfrm>
        </p:spPr>
      </p:pic>
      <p:sp>
        <p:nvSpPr>
          <p:cNvPr id="4" name="Date Placeholder 3"/>
          <p:cNvSpPr>
            <a:spLocks noGrp="1"/>
          </p:cNvSpPr>
          <p:nvPr>
            <p:ph type="dt" sz="half" idx="10"/>
          </p:nvPr>
        </p:nvSpPr>
        <p:spPr/>
        <p:txBody>
          <a:bodyPr/>
          <a:lstStyle/>
          <a:p>
            <a:fld id="{1366D9F6-19AD-49BB-81E7-AA9A06582E1D}"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15</a:t>
            </a:fld>
            <a:endParaRPr lang="en-IN"/>
          </a:p>
        </p:txBody>
      </p:sp>
      <p:sp>
        <p:nvSpPr>
          <p:cNvPr id="8" name="TextBox 7"/>
          <p:cNvSpPr txBox="1"/>
          <p:nvPr/>
        </p:nvSpPr>
        <p:spPr>
          <a:xfrm>
            <a:off x="1019257" y="5802654"/>
            <a:ext cx="10388165" cy="369332"/>
          </a:xfrm>
          <a:prstGeom prst="rect">
            <a:avLst/>
          </a:prstGeom>
          <a:noFill/>
        </p:spPr>
        <p:txBody>
          <a:bodyPr wrap="none" rtlCol="0">
            <a:spAutoFit/>
          </a:bodyPr>
          <a:lstStyle/>
          <a:p>
            <a:r>
              <a:rPr lang="en-IN" b="1" dirty="0" smtClean="0"/>
              <a:t>Figure 7: Test paths obtained for the Sequential-mixing assay</a:t>
            </a:r>
            <a:r>
              <a:rPr lang="en-IN" b="1" dirty="0"/>
              <a:t>: (a</a:t>
            </a:r>
            <a:r>
              <a:rPr lang="en-IN" b="1" dirty="0" smtClean="0"/>
              <a:t>) SAT-based </a:t>
            </a:r>
            <a:r>
              <a:rPr lang="en-IN" b="1" dirty="0"/>
              <a:t>method, (b</a:t>
            </a:r>
            <a:r>
              <a:rPr lang="en-IN" b="1" dirty="0" smtClean="0"/>
              <a:t>) Proposed method</a:t>
            </a:r>
            <a:r>
              <a:rPr lang="en-IN" b="1" dirty="0"/>
              <a:t>.</a:t>
            </a:r>
          </a:p>
        </p:txBody>
      </p:sp>
    </p:spTree>
    <p:extLst>
      <p:ext uri="{BB962C8B-B14F-4D97-AF65-F5344CB8AC3E}">
        <p14:creationId xmlns:p14="http://schemas.microsoft.com/office/powerpoint/2010/main" val="31246280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398"/>
            <a:ext cx="12192000" cy="764906"/>
          </a:xfrm>
        </p:spPr>
        <p:txBody>
          <a:bodyPr/>
          <a:lstStyle/>
          <a:p>
            <a:pPr algn="ctr"/>
            <a:r>
              <a:rPr lang="en-US" sz="4000" b="1" dirty="0">
                <a:solidFill>
                  <a:prstClr val="black"/>
                </a:solidFill>
              </a:rPr>
              <a:t>Test Path Planning: SAT-Based vs Proposed Method</a:t>
            </a:r>
            <a:endParaRPr lang="en-IN" dirty="0"/>
          </a:p>
        </p:txBody>
      </p:sp>
      <p:sp>
        <p:nvSpPr>
          <p:cNvPr id="3" name="Content Placeholder 2"/>
          <p:cNvSpPr>
            <a:spLocks noGrp="1"/>
          </p:cNvSpPr>
          <p:nvPr>
            <p:ph idx="1"/>
          </p:nvPr>
        </p:nvSpPr>
        <p:spPr>
          <a:xfrm>
            <a:off x="838200" y="1513103"/>
            <a:ext cx="10515600" cy="4945569"/>
          </a:xfrm>
        </p:spPr>
        <p:txBody>
          <a:bodyPr>
            <a:normAutofit/>
          </a:bodyPr>
          <a:lstStyle/>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a:p>
          <a:p>
            <a:pPr marL="0" indent="0">
              <a:buNone/>
            </a:pPr>
            <a:endParaRPr lang="en-IN" dirty="0" smtClean="0"/>
          </a:p>
          <a:p>
            <a:pPr marL="0" indent="0">
              <a:buNone/>
            </a:pPr>
            <a:endParaRPr lang="en-IN" dirty="0" smtClean="0"/>
          </a:p>
          <a:p>
            <a:r>
              <a:rPr lang="en-US" sz="2400" dirty="0"/>
              <a:t>RL-based solution achieves matching edge coverage (66.67%) and comparable test application time (59 vs. 57) to SAT, demonstrating its </a:t>
            </a:r>
            <a:r>
              <a:rPr lang="en-US" sz="2400" dirty="0" smtClean="0"/>
              <a:t>effectiveness.</a:t>
            </a:r>
          </a:p>
          <a:p>
            <a:r>
              <a:rPr lang="en-US" sz="2400" dirty="0"/>
              <a:t>This shows that the RL-based method can generate solutions with TAT and edge coverage comparable to those obtained by the SAT solver, while requiring significantly less runtime.</a:t>
            </a:r>
            <a:endParaRPr lang="en-IN" sz="2400" dirty="0"/>
          </a:p>
        </p:txBody>
      </p:sp>
      <p:sp>
        <p:nvSpPr>
          <p:cNvPr id="4" name="Date Placeholder 3"/>
          <p:cNvSpPr>
            <a:spLocks noGrp="1"/>
          </p:cNvSpPr>
          <p:nvPr>
            <p:ph type="dt" sz="half" idx="10"/>
          </p:nvPr>
        </p:nvSpPr>
        <p:spPr/>
        <p:txBody>
          <a:bodyPr/>
          <a:lstStyle/>
          <a:p>
            <a:fld id="{6708084D-8C1C-40F3-9324-D160108BDF7D}"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16</a:t>
            </a:fld>
            <a:endParaRPr lang="en-I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0388" y="1183068"/>
            <a:ext cx="3019058" cy="3251890"/>
          </a:xfrm>
          <a:prstGeom prst="rect">
            <a:avLst/>
          </a:prstGeom>
        </p:spPr>
      </p:pic>
      <p:sp>
        <p:nvSpPr>
          <p:cNvPr id="8" name="Rectangle 7"/>
          <p:cNvSpPr/>
          <p:nvPr/>
        </p:nvSpPr>
        <p:spPr>
          <a:xfrm>
            <a:off x="7877908" y="1129416"/>
            <a:ext cx="1028700" cy="2927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0991" y="1129489"/>
            <a:ext cx="3068801" cy="3305469"/>
          </a:xfrm>
          <a:prstGeom prst="rect">
            <a:avLst/>
          </a:prstGeom>
        </p:spPr>
      </p:pic>
      <p:sp>
        <p:nvSpPr>
          <p:cNvPr id="10" name="Rectangle 9"/>
          <p:cNvSpPr/>
          <p:nvPr/>
        </p:nvSpPr>
        <p:spPr>
          <a:xfrm>
            <a:off x="2876184" y="1085456"/>
            <a:ext cx="1028700" cy="29271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230144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76"/>
            <a:ext cx="12192000" cy="685547"/>
          </a:xfrm>
        </p:spPr>
        <p:txBody>
          <a:bodyPr/>
          <a:lstStyle/>
          <a:p>
            <a:pPr algn="ctr"/>
            <a:r>
              <a:rPr lang="en-IN" sz="4000" b="1" dirty="0">
                <a:solidFill>
                  <a:prstClr val="black"/>
                </a:solidFill>
              </a:rPr>
              <a:t>Experimental Setup and Results I</a:t>
            </a:r>
            <a:endParaRPr lang="en-IN" dirty="0"/>
          </a:p>
        </p:txBody>
      </p:sp>
      <p:sp>
        <p:nvSpPr>
          <p:cNvPr id="3" name="Content Placeholder 2"/>
          <p:cNvSpPr>
            <a:spLocks noGrp="1"/>
          </p:cNvSpPr>
          <p:nvPr>
            <p:ph idx="1"/>
          </p:nvPr>
        </p:nvSpPr>
        <p:spPr/>
        <p:txBody>
          <a:bodyPr/>
          <a:lstStyle/>
          <a:p>
            <a:pPr marL="0" indent="0">
              <a:buNone/>
            </a:pPr>
            <a:r>
              <a:rPr lang="en-IN" dirty="0" smtClean="0"/>
              <a:t> </a:t>
            </a:r>
            <a:endParaRPr lang="en-IN" dirty="0"/>
          </a:p>
        </p:txBody>
      </p:sp>
      <p:sp>
        <p:nvSpPr>
          <p:cNvPr id="4" name="Date Placeholder 3"/>
          <p:cNvSpPr>
            <a:spLocks noGrp="1"/>
          </p:cNvSpPr>
          <p:nvPr>
            <p:ph type="dt" sz="half" idx="10"/>
          </p:nvPr>
        </p:nvSpPr>
        <p:spPr/>
        <p:txBody>
          <a:bodyPr/>
          <a:lstStyle/>
          <a:p>
            <a:fld id="{6708084D-8C1C-40F3-9324-D160108BDF7D}"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17</a:t>
            </a:fld>
            <a:endParaRPr lang="en-IN"/>
          </a:p>
        </p:txBody>
      </p:sp>
      <p:graphicFrame>
        <p:nvGraphicFramePr>
          <p:cNvPr id="8" name="Table 7"/>
          <p:cNvGraphicFramePr>
            <a:graphicFrameLocks noGrp="1"/>
          </p:cNvGraphicFramePr>
          <p:nvPr>
            <p:extLst>
              <p:ext uri="{D42A27DB-BD31-4B8C-83A1-F6EECF244321}">
                <p14:modId xmlns:p14="http://schemas.microsoft.com/office/powerpoint/2010/main" val="650771271"/>
              </p:ext>
            </p:extLst>
          </p:nvPr>
        </p:nvGraphicFramePr>
        <p:xfrm>
          <a:off x="214313" y="1201880"/>
          <a:ext cx="11763374" cy="2414650"/>
        </p:xfrm>
        <a:graphic>
          <a:graphicData uri="http://schemas.openxmlformats.org/drawingml/2006/table">
            <a:tbl>
              <a:tblPr/>
              <a:tblGrid>
                <a:gridCol w="1026250">
                  <a:extLst>
                    <a:ext uri="{9D8B030D-6E8A-4147-A177-3AD203B41FA5}">
                      <a16:colId xmlns:a16="http://schemas.microsoft.com/office/drawing/2014/main" val="3540404205"/>
                    </a:ext>
                  </a:extLst>
                </a:gridCol>
                <a:gridCol w="8262857">
                  <a:extLst>
                    <a:ext uri="{9D8B030D-6E8A-4147-A177-3AD203B41FA5}">
                      <a16:colId xmlns:a16="http://schemas.microsoft.com/office/drawing/2014/main" val="1586505144"/>
                    </a:ext>
                  </a:extLst>
                </a:gridCol>
                <a:gridCol w="1357313">
                  <a:extLst>
                    <a:ext uri="{9D8B030D-6E8A-4147-A177-3AD203B41FA5}">
                      <a16:colId xmlns:a16="http://schemas.microsoft.com/office/drawing/2014/main" val="2239693717"/>
                    </a:ext>
                  </a:extLst>
                </a:gridCol>
                <a:gridCol w="1116954">
                  <a:extLst>
                    <a:ext uri="{9D8B030D-6E8A-4147-A177-3AD203B41FA5}">
                      <a16:colId xmlns:a16="http://schemas.microsoft.com/office/drawing/2014/main" val="3144797484"/>
                    </a:ext>
                  </a:extLst>
                </a:gridCol>
              </a:tblGrid>
              <a:tr h="133887">
                <a:tc>
                  <a:txBody>
                    <a:bodyPr/>
                    <a:lstStyle/>
                    <a:p>
                      <a:pPr algn="ctr"/>
                      <a:r>
                        <a:rPr lang="en-IN" sz="1600" b="1" dirty="0"/>
                        <a:t>Test ID</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IN" sz="1600" b="1" dirty="0"/>
                        <a:t>Assay Name</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a:t>Dimension</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err="1"/>
                        <a:t>Tassay</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extLst>
                  <a:ext uri="{0D108BD9-81ED-4DB2-BD59-A6C34878D82A}">
                    <a16:rowId xmlns:a16="http://schemas.microsoft.com/office/drawing/2014/main" val="3041743416"/>
                  </a:ext>
                </a:extLst>
              </a:tr>
              <a:tr h="234303">
                <a:tc>
                  <a:txBody>
                    <a:bodyPr/>
                    <a:lstStyle/>
                    <a:p>
                      <a:pPr algn="ctr"/>
                      <a:r>
                        <a:rPr lang="en-IN" sz="1600" b="1" dirty="0"/>
                        <a:t>Assay 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fr-FR" sz="1600" b="1" dirty="0"/>
                        <a:t>InVitro [Bhattacharjee et al., 2017]</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dirty="0"/>
                        <a:t>7 × 7</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a:t>36</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extLst>
                  <a:ext uri="{0D108BD9-81ED-4DB2-BD59-A6C34878D82A}">
                    <a16:rowId xmlns:a16="http://schemas.microsoft.com/office/drawing/2014/main" val="2583925889"/>
                  </a:ext>
                </a:extLst>
              </a:tr>
              <a:tr h="234303">
                <a:tc>
                  <a:txBody>
                    <a:bodyPr/>
                    <a:lstStyle/>
                    <a:p>
                      <a:pPr algn="ctr"/>
                      <a:r>
                        <a:rPr lang="en-IN" sz="1600" b="1" dirty="0"/>
                        <a:t>Assay 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US" sz="1600" b="1" dirty="0"/>
                        <a:t>Sequential mixing of three reagents (Fig.2)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dirty="0"/>
                        <a:t>7 × 7</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dirty="0"/>
                        <a:t>42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extLst>
                  <a:ext uri="{0D108BD9-81ED-4DB2-BD59-A6C34878D82A}">
                    <a16:rowId xmlns:a16="http://schemas.microsoft.com/office/drawing/2014/main" val="4084942969"/>
                  </a:ext>
                </a:extLst>
              </a:tr>
              <a:tr h="435134">
                <a:tc>
                  <a:txBody>
                    <a:bodyPr/>
                    <a:lstStyle/>
                    <a:p>
                      <a:pPr algn="ctr"/>
                      <a:r>
                        <a:rPr lang="en-IN" sz="1600" b="1" dirty="0"/>
                        <a:t>Assay 3</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US" sz="1600" b="1" dirty="0"/>
                        <a:t>Multiple target mixture preparation: A : B : C = 1 : 2 : 1 and A : C : D = 1 : 2 : 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9 × 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122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extLst>
                  <a:ext uri="{0D108BD9-81ED-4DB2-BD59-A6C34878D82A}">
                    <a16:rowId xmlns:a16="http://schemas.microsoft.com/office/drawing/2014/main" val="3969754935"/>
                  </a:ext>
                </a:extLst>
              </a:tr>
              <a:tr h="435134">
                <a:tc>
                  <a:txBody>
                    <a:bodyPr/>
                    <a:lstStyle/>
                    <a:p>
                      <a:pPr algn="ctr"/>
                      <a:r>
                        <a:rPr lang="en-IN" sz="1600" b="1" dirty="0"/>
                        <a:t>Assay 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IN" sz="1600" b="1" dirty="0" err="1"/>
                        <a:t>MinMix</a:t>
                      </a:r>
                      <a:r>
                        <a:rPr lang="en-IN" sz="1600" b="1" dirty="0"/>
                        <a:t> mixing [Bhattacharjee et al., 2018] R₁ : R₂ : R₃ : R₄ = 95 : 87 : 59 : 15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11 × 11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192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extLst>
                  <a:ext uri="{0D108BD9-81ED-4DB2-BD59-A6C34878D82A}">
                    <a16:rowId xmlns:a16="http://schemas.microsoft.com/office/drawing/2014/main" val="2976262778"/>
                  </a:ext>
                </a:extLst>
              </a:tr>
              <a:tr h="435134">
                <a:tc>
                  <a:txBody>
                    <a:bodyPr/>
                    <a:lstStyle/>
                    <a:p>
                      <a:pPr algn="ctr"/>
                      <a:r>
                        <a:rPr lang="en-IN" sz="1600" b="1" dirty="0"/>
                        <a:t>Assay 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US" sz="1600" b="1" dirty="0"/>
                        <a:t>Multiple target mixture preparation: </a:t>
                      </a:r>
                      <a:r>
                        <a:rPr lang="en-US" sz="1600" b="1" dirty="0" smtClean="0"/>
                        <a:t>A:B:C:D:E </a:t>
                      </a:r>
                      <a:r>
                        <a:rPr lang="en-US" sz="1600" b="1" dirty="0"/>
                        <a:t>= </a:t>
                      </a:r>
                      <a:r>
                        <a:rPr lang="en-US" sz="1600" b="1" dirty="0" smtClean="0"/>
                        <a:t>1:1:1:2:10</a:t>
                      </a:r>
                      <a:r>
                        <a:rPr lang="en-US" sz="1600" b="1" dirty="0"/>
                        <a:t>, </a:t>
                      </a:r>
                      <a:r>
                        <a:rPr lang="en-US" sz="1600" b="1" dirty="0" smtClean="0"/>
                        <a:t>and</a:t>
                      </a:r>
                      <a:r>
                        <a:rPr lang="en-US" sz="1600" b="1" baseline="0" dirty="0" smtClean="0"/>
                        <a:t> </a:t>
                      </a:r>
                      <a:r>
                        <a:rPr lang="en-US" sz="1600" b="1" dirty="0" smtClean="0"/>
                        <a:t>1:1:1:1:10:2</a:t>
                      </a:r>
                      <a:endParaRPr lang="en-US"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13 × 13</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155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extLst>
                  <a:ext uri="{0D108BD9-81ED-4DB2-BD59-A6C34878D82A}">
                    <a16:rowId xmlns:a16="http://schemas.microsoft.com/office/drawing/2014/main" val="1137303852"/>
                  </a:ext>
                </a:extLst>
              </a:tr>
              <a:tr h="234303">
                <a:tc>
                  <a:txBody>
                    <a:bodyPr/>
                    <a:lstStyle/>
                    <a:p>
                      <a:pPr algn="ctr"/>
                      <a:r>
                        <a:rPr lang="en-IN" sz="1600" b="1" dirty="0"/>
                        <a:t>Assay </a:t>
                      </a:r>
                      <a:r>
                        <a:rPr lang="en-IN" sz="1600" b="1" dirty="0" smtClean="0"/>
                        <a:t>6</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US" sz="1600" b="1" dirty="0"/>
                        <a:t>Three instances of PCR mixture [Roy et al., 2014]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16 × 16</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220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2945544042"/>
                  </a:ext>
                </a:extLst>
              </a:tr>
            </a:tbl>
          </a:graphicData>
        </a:graphic>
      </p:graphicFrame>
      <p:sp>
        <p:nvSpPr>
          <p:cNvPr id="9" name="TextBox 8"/>
          <p:cNvSpPr txBox="1"/>
          <p:nvPr/>
        </p:nvSpPr>
        <p:spPr>
          <a:xfrm>
            <a:off x="2973621" y="832548"/>
            <a:ext cx="6593023" cy="369332"/>
          </a:xfrm>
          <a:prstGeom prst="rect">
            <a:avLst/>
          </a:prstGeom>
          <a:noFill/>
        </p:spPr>
        <p:txBody>
          <a:bodyPr wrap="none" rtlCol="0">
            <a:spAutoFit/>
          </a:bodyPr>
          <a:lstStyle/>
          <a:p>
            <a:r>
              <a:rPr lang="en-IN" dirty="0" smtClean="0"/>
              <a:t>Table 2: Summary of Assays used for comparing different approaches</a:t>
            </a:r>
            <a:endParaRPr lang="en-IN" dirty="0"/>
          </a:p>
        </p:txBody>
      </p:sp>
      <p:graphicFrame>
        <p:nvGraphicFramePr>
          <p:cNvPr id="10" name="Table 9"/>
          <p:cNvGraphicFramePr>
            <a:graphicFrameLocks noGrp="1"/>
          </p:cNvGraphicFramePr>
          <p:nvPr>
            <p:extLst>
              <p:ext uri="{D42A27DB-BD31-4B8C-83A1-F6EECF244321}">
                <p14:modId xmlns:p14="http://schemas.microsoft.com/office/powerpoint/2010/main" val="385239848"/>
              </p:ext>
            </p:extLst>
          </p:nvPr>
        </p:nvGraphicFramePr>
        <p:xfrm>
          <a:off x="214313" y="4181255"/>
          <a:ext cx="11763374" cy="2429045"/>
        </p:xfrm>
        <a:graphic>
          <a:graphicData uri="http://schemas.openxmlformats.org/drawingml/2006/table">
            <a:tbl>
              <a:tblPr/>
              <a:tblGrid>
                <a:gridCol w="809624">
                  <a:extLst>
                    <a:ext uri="{9D8B030D-6E8A-4147-A177-3AD203B41FA5}">
                      <a16:colId xmlns:a16="http://schemas.microsoft.com/office/drawing/2014/main" val="3969350951"/>
                    </a:ext>
                  </a:extLst>
                </a:gridCol>
                <a:gridCol w="628650">
                  <a:extLst>
                    <a:ext uri="{9D8B030D-6E8A-4147-A177-3AD203B41FA5}">
                      <a16:colId xmlns:a16="http://schemas.microsoft.com/office/drawing/2014/main" val="3153508138"/>
                    </a:ext>
                  </a:extLst>
                </a:gridCol>
                <a:gridCol w="1095375">
                  <a:extLst>
                    <a:ext uri="{9D8B030D-6E8A-4147-A177-3AD203B41FA5}">
                      <a16:colId xmlns:a16="http://schemas.microsoft.com/office/drawing/2014/main" val="3714034005"/>
                    </a:ext>
                  </a:extLst>
                </a:gridCol>
                <a:gridCol w="819150">
                  <a:extLst>
                    <a:ext uri="{9D8B030D-6E8A-4147-A177-3AD203B41FA5}">
                      <a16:colId xmlns:a16="http://schemas.microsoft.com/office/drawing/2014/main" val="3698474086"/>
                    </a:ext>
                  </a:extLst>
                </a:gridCol>
                <a:gridCol w="2781300">
                  <a:extLst>
                    <a:ext uri="{9D8B030D-6E8A-4147-A177-3AD203B41FA5}">
                      <a16:colId xmlns:a16="http://schemas.microsoft.com/office/drawing/2014/main" val="2758986877"/>
                    </a:ext>
                  </a:extLst>
                </a:gridCol>
                <a:gridCol w="2752725">
                  <a:extLst>
                    <a:ext uri="{9D8B030D-6E8A-4147-A177-3AD203B41FA5}">
                      <a16:colId xmlns:a16="http://schemas.microsoft.com/office/drawing/2014/main" val="875833408"/>
                    </a:ext>
                  </a:extLst>
                </a:gridCol>
                <a:gridCol w="2876550">
                  <a:extLst>
                    <a:ext uri="{9D8B030D-6E8A-4147-A177-3AD203B41FA5}">
                      <a16:colId xmlns:a16="http://schemas.microsoft.com/office/drawing/2014/main" val="885716728"/>
                    </a:ext>
                  </a:extLst>
                </a:gridCol>
              </a:tblGrid>
              <a:tr h="535549">
                <a:tc>
                  <a:txBody>
                    <a:bodyPr/>
                    <a:lstStyle/>
                    <a:p>
                      <a:pPr algn="ctr"/>
                      <a:r>
                        <a:rPr lang="en-IN" sz="1600" b="1" dirty="0" smtClean="0"/>
                        <a:t>Test ID</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err="1"/>
                        <a:t>Tassay</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a:t># </a:t>
                      </a:r>
                      <a:r>
                        <a:rPr lang="en-IN" sz="1600" b="1" dirty="0" smtClean="0"/>
                        <a:t>Footprints</a:t>
                      </a:r>
                    </a:p>
                    <a:p>
                      <a:pPr algn="ctr"/>
                      <a:r>
                        <a:rPr lang="en-IN" sz="1600" b="1" dirty="0" smtClean="0"/>
                        <a:t>Edges</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a:t># Agents</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US" sz="1600" b="1" dirty="0"/>
                        <a:t>Test Application Time </a:t>
                      </a:r>
                      <a:r>
                        <a:rPr lang="en-US" sz="1600" b="1" dirty="0" smtClean="0"/>
                        <a:t/>
                      </a:r>
                      <a:br>
                        <a:rPr lang="en-US" sz="1600" b="1" dirty="0" smtClean="0"/>
                      </a:br>
                      <a:r>
                        <a:rPr lang="en-US" sz="1600" b="1" dirty="0" smtClean="0"/>
                        <a:t>(</a:t>
                      </a:r>
                      <a:r>
                        <a:rPr lang="en-US" sz="1600" b="1" dirty="0"/>
                        <a:t>SAT / ε-greedy / Opt. greedy)</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US" sz="1600" b="1" dirty="0"/>
                        <a:t>Running Time (s) </a:t>
                      </a:r>
                      <a:r>
                        <a:rPr lang="en-US" sz="1600" b="1" dirty="0" smtClean="0"/>
                        <a:t/>
                      </a:r>
                      <a:br>
                        <a:rPr lang="en-US" sz="1600" b="1" dirty="0" smtClean="0"/>
                      </a:br>
                      <a:r>
                        <a:rPr lang="en-US" sz="1600" b="1" dirty="0" smtClean="0"/>
                        <a:t>(</a:t>
                      </a:r>
                      <a:r>
                        <a:rPr lang="en-US" sz="1600" b="1" dirty="0"/>
                        <a:t>SAT / ε-greedy / Opt. greedy)</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US" sz="1600" b="1" dirty="0"/>
                        <a:t>Edge Coverage % </a:t>
                      </a:r>
                      <a:r>
                        <a:rPr lang="en-US" sz="1600" b="1" dirty="0" smtClean="0"/>
                        <a:t/>
                      </a:r>
                      <a:br>
                        <a:rPr lang="en-US" sz="1600" b="1" dirty="0" smtClean="0"/>
                      </a:br>
                      <a:r>
                        <a:rPr lang="en-US" sz="1600" b="1" dirty="0" smtClean="0"/>
                        <a:t>(</a:t>
                      </a:r>
                      <a:r>
                        <a:rPr lang="en-US" sz="1600" b="1" dirty="0"/>
                        <a:t>SAT / ε-greedy / Opt. greedy)</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extLst>
                  <a:ext uri="{0D108BD9-81ED-4DB2-BD59-A6C34878D82A}">
                    <a16:rowId xmlns:a16="http://schemas.microsoft.com/office/drawing/2014/main" val="3430771138"/>
                  </a:ext>
                </a:extLst>
              </a:tr>
              <a:tr h="234303">
                <a:tc>
                  <a:txBody>
                    <a:bodyPr/>
                    <a:lstStyle/>
                    <a:p>
                      <a:pPr algn="ctr"/>
                      <a:r>
                        <a:rPr lang="en-IN" sz="1600" b="1" dirty="0"/>
                        <a:t>Assay 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a:t>36</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dirty="0"/>
                        <a:t>20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dirty="0"/>
                        <a:t>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dirty="0"/>
                        <a:t>45 / 46 / 46</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dirty="0"/>
                        <a:t>0.74 / 88.77 / 68.24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dirty="0"/>
                        <a:t>75.00 / 70.00 / 70.00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extLst>
                  <a:ext uri="{0D108BD9-81ED-4DB2-BD59-A6C34878D82A}">
                    <a16:rowId xmlns:a16="http://schemas.microsoft.com/office/drawing/2014/main" val="1071039187"/>
                  </a:ext>
                </a:extLst>
              </a:tr>
              <a:tr h="234303">
                <a:tc>
                  <a:txBody>
                    <a:bodyPr/>
                    <a:lstStyle/>
                    <a:p>
                      <a:pPr algn="ctr"/>
                      <a:r>
                        <a:rPr lang="en-IN" sz="1600" b="1" dirty="0"/>
                        <a:t>Assay 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a:t>42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dirty="0"/>
                        <a:t>24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a:t>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a:t>57 / 65 / 59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a:t>7.25 / 78.00 / 69.19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tc>
                  <a:txBody>
                    <a:bodyPr/>
                    <a:lstStyle/>
                    <a:p>
                      <a:pPr algn="ctr"/>
                      <a:r>
                        <a:rPr lang="en-IN" sz="1600" b="1" dirty="0"/>
                        <a:t>66.67 / 62.50 / 66.67</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alpha val="40000"/>
                      </a:schemeClr>
                    </a:solidFill>
                  </a:tcPr>
                </a:tc>
                <a:extLst>
                  <a:ext uri="{0D108BD9-81ED-4DB2-BD59-A6C34878D82A}">
                    <a16:rowId xmlns:a16="http://schemas.microsoft.com/office/drawing/2014/main" val="2162624307"/>
                  </a:ext>
                </a:extLst>
              </a:tr>
              <a:tr h="334718">
                <a:tc>
                  <a:txBody>
                    <a:bodyPr/>
                    <a:lstStyle/>
                    <a:p>
                      <a:pPr algn="ctr"/>
                      <a:r>
                        <a:rPr lang="en-IN" sz="1600" b="1"/>
                        <a:t>Assay 3</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a:t>122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104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159 / 186 / 179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4831.05 / 1094.54 / 983.49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73.91 / 69.23 / 68.26</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extLst>
                  <a:ext uri="{0D108BD9-81ED-4DB2-BD59-A6C34878D82A}">
                    <a16:rowId xmlns:a16="http://schemas.microsoft.com/office/drawing/2014/main" val="190959981"/>
                  </a:ext>
                </a:extLst>
              </a:tr>
              <a:tr h="334718">
                <a:tc>
                  <a:txBody>
                    <a:bodyPr/>
                    <a:lstStyle/>
                    <a:p>
                      <a:pPr algn="ctr"/>
                      <a:r>
                        <a:rPr lang="en-IN" sz="1600" b="1"/>
                        <a:t>Assay 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a:t>192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49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192 / 207 / 202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852.01 / 762.16 / 715.41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100 / 95.91 / 97.95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extLst>
                  <a:ext uri="{0D108BD9-81ED-4DB2-BD59-A6C34878D82A}">
                    <a16:rowId xmlns:a16="http://schemas.microsoft.com/office/drawing/2014/main" val="284034749"/>
                  </a:ext>
                </a:extLst>
              </a:tr>
              <a:tr h="334718">
                <a:tc>
                  <a:txBody>
                    <a:bodyPr/>
                    <a:lstStyle/>
                    <a:p>
                      <a:pPr algn="ctr"/>
                      <a:r>
                        <a:rPr lang="en-IN" sz="1600" b="1"/>
                        <a:t>Assay 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a:t>155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108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191 / 220 / 210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12698.28 / 1275.11 / 1201.97</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88.04 / 83.33 / 85.18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extLst>
                  <a:ext uri="{0D108BD9-81ED-4DB2-BD59-A6C34878D82A}">
                    <a16:rowId xmlns:a16="http://schemas.microsoft.com/office/drawing/2014/main" val="3617374751"/>
                  </a:ext>
                </a:extLst>
              </a:tr>
              <a:tr h="334718">
                <a:tc>
                  <a:txBody>
                    <a:bodyPr/>
                    <a:lstStyle/>
                    <a:p>
                      <a:pPr algn="ctr"/>
                      <a:r>
                        <a:rPr lang="en-IN" sz="1600" b="1" dirty="0"/>
                        <a:t>Assay </a:t>
                      </a:r>
                      <a:r>
                        <a:rPr lang="en-IN" sz="1600" b="1" dirty="0" smtClean="0"/>
                        <a:t>6</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a:t>220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126</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NA / 256 / 252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Time Out / 1396.39 / 1249.65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NA / 92.06 / 92.85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1666127436"/>
                  </a:ext>
                </a:extLst>
              </a:tr>
            </a:tbl>
          </a:graphicData>
        </a:graphic>
      </p:graphicFrame>
      <p:sp>
        <p:nvSpPr>
          <p:cNvPr id="11" name="TextBox 10"/>
          <p:cNvSpPr txBox="1"/>
          <p:nvPr/>
        </p:nvSpPr>
        <p:spPr>
          <a:xfrm>
            <a:off x="2871431" y="3811923"/>
            <a:ext cx="6449138" cy="369332"/>
          </a:xfrm>
          <a:prstGeom prst="rect">
            <a:avLst/>
          </a:prstGeom>
          <a:noFill/>
        </p:spPr>
        <p:txBody>
          <a:bodyPr wrap="none" rtlCol="0">
            <a:spAutoFit/>
          </a:bodyPr>
          <a:lstStyle/>
          <a:p>
            <a:r>
              <a:rPr lang="en-IN" dirty="0" smtClean="0"/>
              <a:t>Table 3: Comparison of Experiments on Test Assays Across Methods</a:t>
            </a:r>
            <a:endParaRPr lang="en-IN" dirty="0"/>
          </a:p>
        </p:txBody>
      </p:sp>
    </p:spTree>
    <p:extLst>
      <p:ext uri="{BB962C8B-B14F-4D97-AF65-F5344CB8AC3E}">
        <p14:creationId xmlns:p14="http://schemas.microsoft.com/office/powerpoint/2010/main" val="12628561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07225"/>
            <a:ext cx="10515600" cy="5514250"/>
          </a:xfrm>
        </p:spPr>
        <p:txBody>
          <a:bodyPr>
            <a:normAutofit/>
          </a:bodyPr>
          <a:lstStyle/>
          <a:p>
            <a:r>
              <a:rPr lang="en-IN" sz="2400" b="1" dirty="0"/>
              <a:t>Achievements So </a:t>
            </a:r>
            <a:r>
              <a:rPr lang="en-IN" sz="2400" b="1" dirty="0" smtClean="0"/>
              <a:t>Far</a:t>
            </a:r>
          </a:p>
          <a:p>
            <a:pPr lvl="1"/>
            <a:r>
              <a:rPr lang="en-US" sz="2000" dirty="0"/>
              <a:t>Successfully modeled the in-field testing problem on </a:t>
            </a:r>
            <a:r>
              <a:rPr lang="en-US" sz="2000" dirty="0" smtClean="0"/>
              <a:t>DMB </a:t>
            </a:r>
            <a:r>
              <a:rPr lang="en-US" sz="2000" dirty="0"/>
              <a:t>as an MDP</a:t>
            </a:r>
            <a:r>
              <a:rPr lang="en-US" sz="2000" dirty="0" smtClean="0"/>
              <a:t>.</a:t>
            </a:r>
          </a:p>
          <a:p>
            <a:pPr lvl="1"/>
            <a:r>
              <a:rPr lang="en-US" sz="2000" dirty="0" smtClean="0"/>
              <a:t>Trained </a:t>
            </a:r>
            <a:r>
              <a:rPr lang="en-US" sz="2000" dirty="0"/>
              <a:t>a single-agent Q-learning model that</a:t>
            </a:r>
            <a:r>
              <a:rPr lang="en-US" sz="2000" dirty="0" smtClean="0"/>
              <a:t>: </a:t>
            </a:r>
          </a:p>
          <a:p>
            <a:pPr lvl="2"/>
            <a:r>
              <a:rPr lang="en-US" sz="1800" dirty="0" smtClean="0"/>
              <a:t>Avoids </a:t>
            </a:r>
            <a:r>
              <a:rPr lang="en-US" sz="1800" dirty="0"/>
              <a:t>assay droplets and navigates the grid efficiently</a:t>
            </a:r>
            <a:r>
              <a:rPr lang="en-US" sz="1800" dirty="0" smtClean="0"/>
              <a:t>.</a:t>
            </a:r>
          </a:p>
          <a:p>
            <a:pPr lvl="2"/>
            <a:r>
              <a:rPr lang="en-US" sz="1800" dirty="0" smtClean="0"/>
              <a:t>Achieves </a:t>
            </a:r>
            <a:r>
              <a:rPr lang="en-US" sz="1800" dirty="0"/>
              <a:t>competitive edge coverage compared to SAT (e.g., 66.67% for Assay 2</a:t>
            </a:r>
            <a:r>
              <a:rPr lang="en-US" sz="1800" dirty="0" smtClean="0"/>
              <a:t>).</a:t>
            </a:r>
          </a:p>
          <a:p>
            <a:pPr lvl="2"/>
            <a:r>
              <a:rPr lang="en-US" sz="1800" dirty="0" smtClean="0"/>
              <a:t>Performs </a:t>
            </a:r>
            <a:r>
              <a:rPr lang="en-US" sz="1800" dirty="0"/>
              <a:t>well on small- to medium-sized </a:t>
            </a:r>
            <a:r>
              <a:rPr lang="en-US" sz="1800" dirty="0" smtClean="0"/>
              <a:t>assays (Scalable).</a:t>
            </a:r>
          </a:p>
          <a:p>
            <a:pPr lvl="1"/>
            <a:r>
              <a:rPr lang="en-US" sz="2000" dirty="0" smtClean="0"/>
              <a:t>Designed </a:t>
            </a:r>
            <a:r>
              <a:rPr lang="en-US" sz="2000" dirty="0"/>
              <a:t>a reward function that balances safety, coverage, and efficiency</a:t>
            </a:r>
            <a:r>
              <a:rPr lang="en-US" sz="2000" dirty="0" smtClean="0"/>
              <a:t>.</a:t>
            </a:r>
          </a:p>
          <a:p>
            <a:pPr lvl="1"/>
            <a:r>
              <a:rPr lang="en-US" sz="2000" dirty="0" smtClean="0"/>
              <a:t>Significantly reduced training </a:t>
            </a:r>
            <a:r>
              <a:rPr lang="en-US" sz="2000" dirty="0"/>
              <a:t>time </a:t>
            </a:r>
            <a:r>
              <a:rPr lang="en-US" sz="2000" dirty="0" smtClean="0"/>
              <a:t>with little increase in TAT </a:t>
            </a:r>
            <a:r>
              <a:rPr lang="en-US" sz="2000" dirty="0"/>
              <a:t>in most cases</a:t>
            </a:r>
            <a:r>
              <a:rPr lang="en-US" sz="2000" dirty="0" smtClean="0"/>
              <a:t>.</a:t>
            </a:r>
            <a:endParaRPr lang="en-IN" sz="2000" b="1" dirty="0"/>
          </a:p>
          <a:p>
            <a:r>
              <a:rPr lang="en-IN" sz="2400" b="1" dirty="0"/>
              <a:t>Motivation for Multi-Agent </a:t>
            </a:r>
            <a:r>
              <a:rPr lang="en-IN" sz="2400" b="1" dirty="0" smtClean="0"/>
              <a:t>RL</a:t>
            </a:r>
          </a:p>
          <a:p>
            <a:pPr lvl="1"/>
            <a:r>
              <a:rPr lang="en-US" sz="2000" b="1" dirty="0"/>
              <a:t>Scalability </a:t>
            </a:r>
            <a:r>
              <a:rPr lang="en-US" sz="2000" b="1" dirty="0" smtClean="0"/>
              <a:t>Issues: </a:t>
            </a:r>
          </a:p>
          <a:p>
            <a:pPr lvl="2"/>
            <a:r>
              <a:rPr lang="en-US" sz="1800" b="1" dirty="0" smtClean="0"/>
              <a:t>Single </a:t>
            </a:r>
            <a:r>
              <a:rPr lang="en-US" sz="1800" b="1" dirty="0"/>
              <a:t>agent struggles </a:t>
            </a:r>
            <a:r>
              <a:rPr lang="en-US" sz="1800" dirty="0"/>
              <a:t>with larger </a:t>
            </a:r>
            <a:r>
              <a:rPr lang="en-US" sz="1800" dirty="0" smtClean="0"/>
              <a:t>grids </a:t>
            </a:r>
            <a:r>
              <a:rPr lang="en-US" sz="1800" dirty="0"/>
              <a:t>and higher assay complexity</a:t>
            </a:r>
            <a:r>
              <a:rPr lang="en-US" sz="1800" dirty="0" smtClean="0"/>
              <a:t>.</a:t>
            </a:r>
          </a:p>
          <a:p>
            <a:pPr lvl="2"/>
            <a:r>
              <a:rPr lang="en-US" sz="1800" b="1" dirty="0" smtClean="0"/>
              <a:t>Coverage </a:t>
            </a:r>
            <a:r>
              <a:rPr lang="en-US" sz="1800" b="1" dirty="0"/>
              <a:t>becomes suboptimal</a:t>
            </a:r>
            <a:r>
              <a:rPr lang="en-US" sz="1800" dirty="0"/>
              <a:t> as the agent cannot reach all footprint edges efficiently</a:t>
            </a:r>
            <a:r>
              <a:rPr lang="en-US" sz="1800" dirty="0" smtClean="0"/>
              <a:t>.</a:t>
            </a:r>
          </a:p>
          <a:p>
            <a:pPr lvl="1"/>
            <a:r>
              <a:rPr lang="en-US" sz="2000" b="1" dirty="0" smtClean="0"/>
              <a:t>Longer </a:t>
            </a:r>
            <a:r>
              <a:rPr lang="en-US" sz="2000" b="1" dirty="0"/>
              <a:t>Convergence Time</a:t>
            </a:r>
            <a:r>
              <a:rPr lang="en-US" sz="2000" dirty="0"/>
              <a:t> with increasing assay size</a:t>
            </a:r>
            <a:r>
              <a:rPr lang="en-US" sz="2000" dirty="0" smtClean="0"/>
              <a:t>.</a:t>
            </a:r>
          </a:p>
          <a:p>
            <a:pPr lvl="1"/>
            <a:r>
              <a:rPr lang="en-US" sz="2000" b="1" dirty="0" smtClean="0"/>
              <a:t>Inefficient </a:t>
            </a:r>
            <a:r>
              <a:rPr lang="en-US" sz="2000" b="1" dirty="0"/>
              <a:t>exploration</a:t>
            </a:r>
            <a:r>
              <a:rPr lang="en-US" sz="2000" dirty="0"/>
              <a:t> in dense environments with many assay droplets.</a:t>
            </a:r>
            <a:endParaRPr lang="en-IN" sz="2000" dirty="0"/>
          </a:p>
        </p:txBody>
      </p:sp>
      <p:sp>
        <p:nvSpPr>
          <p:cNvPr id="4" name="Date Placeholder 3"/>
          <p:cNvSpPr>
            <a:spLocks noGrp="1"/>
          </p:cNvSpPr>
          <p:nvPr>
            <p:ph type="dt" sz="half" idx="10"/>
          </p:nvPr>
        </p:nvSpPr>
        <p:spPr/>
        <p:txBody>
          <a:bodyPr/>
          <a:lstStyle/>
          <a:p>
            <a:fld id="{6708084D-8C1C-40F3-9324-D160108BDF7D}"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18</a:t>
            </a:fld>
            <a:endParaRPr lang="en-IN"/>
          </a:p>
        </p:txBody>
      </p:sp>
      <p:sp>
        <p:nvSpPr>
          <p:cNvPr id="8" name="Title 1"/>
          <p:cNvSpPr>
            <a:spLocks noGrp="1"/>
          </p:cNvSpPr>
          <p:nvPr>
            <p:ph type="title"/>
          </p:nvPr>
        </p:nvSpPr>
        <p:spPr>
          <a:xfrm>
            <a:off x="0" y="-1676"/>
            <a:ext cx="12192000" cy="685547"/>
          </a:xfrm>
        </p:spPr>
        <p:txBody>
          <a:bodyPr/>
          <a:lstStyle/>
          <a:p>
            <a:pPr algn="ctr"/>
            <a:r>
              <a:rPr lang="en-US" sz="4000" b="1" dirty="0">
                <a:solidFill>
                  <a:prstClr val="black"/>
                </a:solidFill>
              </a:rPr>
              <a:t>From Single-Agent Success to Multi-Agent Necessity</a:t>
            </a:r>
            <a:endParaRPr lang="en-IN" dirty="0"/>
          </a:p>
        </p:txBody>
      </p:sp>
    </p:spTree>
    <p:extLst>
      <p:ext uri="{BB962C8B-B14F-4D97-AF65-F5344CB8AC3E}">
        <p14:creationId xmlns:p14="http://schemas.microsoft.com/office/powerpoint/2010/main" val="7870376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03767"/>
            <a:ext cx="10515600" cy="4973196"/>
          </a:xfrm>
        </p:spPr>
        <p:txBody>
          <a:bodyPr/>
          <a:lstStyle/>
          <a:p>
            <a:r>
              <a:rPr lang="en-US" sz="2400" b="1" dirty="0"/>
              <a:t>Multi-Agent </a:t>
            </a:r>
            <a:r>
              <a:rPr lang="en-US" sz="2400" b="1" dirty="0" smtClean="0"/>
              <a:t>Solution</a:t>
            </a:r>
          </a:p>
          <a:p>
            <a:pPr lvl="1"/>
            <a:r>
              <a:rPr lang="en-US" sz="2000" dirty="0" smtClean="0"/>
              <a:t>This solution is basically the extension of our Single agent solution.</a:t>
            </a:r>
          </a:p>
          <a:p>
            <a:pPr lvl="1"/>
            <a:r>
              <a:rPr lang="en-US" sz="2000" dirty="0"/>
              <a:t>Since c</a:t>
            </a:r>
            <a:r>
              <a:rPr lang="en-US" sz="2000" dirty="0" smtClean="0"/>
              <a:t>onventional </a:t>
            </a:r>
            <a:r>
              <a:rPr lang="en-US" sz="2000" dirty="0"/>
              <a:t>MARL approaches (e.g., centralized training, parameter sharing) do not scale well due to the exponential growth in joint state-action spaces</a:t>
            </a:r>
            <a:r>
              <a:rPr lang="en-US" sz="2000" dirty="0" smtClean="0"/>
              <a:t>.</a:t>
            </a:r>
          </a:p>
          <a:p>
            <a:pPr lvl="1"/>
            <a:r>
              <a:rPr lang="en-US" sz="2000" dirty="0"/>
              <a:t>We modeled </a:t>
            </a:r>
            <a:r>
              <a:rPr lang="en-US" sz="2000" dirty="0" smtClean="0"/>
              <a:t>each </a:t>
            </a:r>
            <a:r>
              <a:rPr lang="en-US" sz="2000" dirty="0"/>
              <a:t>test </a:t>
            </a:r>
            <a:r>
              <a:rPr lang="en-US" sz="2000" dirty="0" smtClean="0"/>
              <a:t>droplet </a:t>
            </a:r>
            <a:r>
              <a:rPr lang="en-US" sz="2000" dirty="0"/>
              <a:t>as an </a:t>
            </a:r>
            <a:r>
              <a:rPr lang="en-US" sz="2000" b="1" dirty="0"/>
              <a:t>independent Q-learning agent</a:t>
            </a:r>
            <a:r>
              <a:rPr lang="en-US" sz="2000" dirty="0" smtClean="0"/>
              <a:t>.</a:t>
            </a:r>
          </a:p>
          <a:p>
            <a:pPr lvl="1"/>
            <a:r>
              <a:rPr lang="en-US" sz="2000" dirty="0"/>
              <a:t>Agents maintain </a:t>
            </a:r>
            <a:r>
              <a:rPr lang="en-US" sz="2000" b="1" dirty="0"/>
              <a:t>separate Q-tables</a:t>
            </a:r>
            <a:r>
              <a:rPr lang="en-US" sz="2000" dirty="0"/>
              <a:t>, learn their own policies, and operate in </a:t>
            </a:r>
            <a:r>
              <a:rPr lang="en-US" sz="2000" b="1" dirty="0"/>
              <a:t>distinct spatial quadrants</a:t>
            </a:r>
            <a:r>
              <a:rPr lang="en-US" sz="2000" dirty="0"/>
              <a:t> of the DMFB grid</a:t>
            </a:r>
            <a:r>
              <a:rPr lang="en-US" sz="2000" dirty="0" smtClean="0"/>
              <a:t>.</a:t>
            </a:r>
          </a:p>
          <a:p>
            <a:pPr lvl="1"/>
            <a:r>
              <a:rPr lang="en-US" sz="2000" dirty="0"/>
              <a:t>Avoids the overhead of centralized coordination and global Q-tables</a:t>
            </a:r>
            <a:r>
              <a:rPr lang="en-US" sz="2000" dirty="0" smtClean="0"/>
              <a:t>.</a:t>
            </a:r>
          </a:p>
          <a:p>
            <a:pPr lvl="1"/>
            <a:r>
              <a:rPr lang="en-US" sz="2000" dirty="0" smtClean="0"/>
              <a:t>We implemented a </a:t>
            </a:r>
            <a:r>
              <a:rPr lang="en-US" sz="2000" b="1" dirty="0"/>
              <a:t>Priority-based action execution</a:t>
            </a:r>
            <a:r>
              <a:rPr lang="en-US" sz="2000" dirty="0"/>
              <a:t> prevents collisions between </a:t>
            </a:r>
            <a:r>
              <a:rPr lang="en-US" sz="2000" dirty="0" smtClean="0"/>
              <a:t>agents</a:t>
            </a:r>
            <a:r>
              <a:rPr lang="en-US" sz="2000" dirty="0"/>
              <a:t>:</a:t>
            </a:r>
            <a:endParaRPr lang="en-US" sz="2000" dirty="0" smtClean="0"/>
          </a:p>
          <a:p>
            <a:pPr lvl="2"/>
            <a:r>
              <a:rPr lang="en-US" dirty="0"/>
              <a:t>In a </a:t>
            </a:r>
            <a:r>
              <a:rPr lang="en-US" b="1" dirty="0"/>
              <a:t>2-agent system</a:t>
            </a:r>
            <a:r>
              <a:rPr lang="en-US" dirty="0"/>
              <a:t>, Agent 1 moves first.</a:t>
            </a:r>
          </a:p>
          <a:p>
            <a:pPr lvl="2"/>
            <a:r>
              <a:rPr lang="en-US" dirty="0"/>
              <a:t>Agent 2 selects an action and checks if it will not result in a collision with Agent 1's new position.</a:t>
            </a:r>
          </a:p>
          <a:p>
            <a:pPr lvl="3"/>
            <a:r>
              <a:rPr lang="en-US" dirty="0"/>
              <a:t>If no collision is predicted, Agent 2 moves.</a:t>
            </a:r>
          </a:p>
          <a:p>
            <a:pPr lvl="3"/>
            <a:r>
              <a:rPr lang="en-US" dirty="0"/>
              <a:t>If a collision would occur, Agent 2 remains in its current position.</a:t>
            </a:r>
          </a:p>
          <a:p>
            <a:pPr lvl="2"/>
            <a:r>
              <a:rPr lang="en-US" dirty="0"/>
              <a:t>If a collision happens, only Agent 1 is penalized.</a:t>
            </a:r>
          </a:p>
        </p:txBody>
      </p:sp>
      <p:sp>
        <p:nvSpPr>
          <p:cNvPr id="4" name="Date Placeholder 3"/>
          <p:cNvSpPr>
            <a:spLocks noGrp="1"/>
          </p:cNvSpPr>
          <p:nvPr>
            <p:ph type="dt" sz="half" idx="10"/>
          </p:nvPr>
        </p:nvSpPr>
        <p:spPr/>
        <p:txBody>
          <a:bodyPr/>
          <a:lstStyle/>
          <a:p>
            <a:fld id="{6708084D-8C1C-40F3-9324-D160108BDF7D}"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19</a:t>
            </a:fld>
            <a:endParaRPr lang="en-IN"/>
          </a:p>
        </p:txBody>
      </p:sp>
      <p:sp>
        <p:nvSpPr>
          <p:cNvPr id="8" name="Title 1"/>
          <p:cNvSpPr>
            <a:spLocks noGrp="1"/>
          </p:cNvSpPr>
          <p:nvPr>
            <p:ph type="title"/>
          </p:nvPr>
        </p:nvSpPr>
        <p:spPr>
          <a:xfrm>
            <a:off x="0" y="-1676"/>
            <a:ext cx="12192000" cy="685547"/>
          </a:xfrm>
        </p:spPr>
        <p:txBody>
          <a:bodyPr/>
          <a:lstStyle/>
          <a:p>
            <a:pPr algn="ctr"/>
            <a:r>
              <a:rPr lang="en-IN" sz="4000" b="1" dirty="0" smtClean="0">
                <a:solidFill>
                  <a:prstClr val="black"/>
                </a:solidFill>
              </a:rPr>
              <a:t>Multi-Agent Extension</a:t>
            </a:r>
            <a:endParaRPr lang="en-IN" dirty="0"/>
          </a:p>
        </p:txBody>
      </p:sp>
      <p:pic>
        <p:nvPicPr>
          <p:cNvPr id="9" name="Picture 10" descr="Autumn is here - A great time for Team-building - RealTime Produc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8571" y="4866521"/>
            <a:ext cx="1582429" cy="1582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972362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stretch>
            <a:fillRect/>
          </a:stretch>
        </p:blipFill>
        <p:spPr>
          <a:xfrm>
            <a:off x="943729" y="1022642"/>
            <a:ext cx="4855187" cy="5143713"/>
          </a:xfrm>
          <a:prstGeom prst="rect">
            <a:avLst/>
          </a:prstGeom>
        </p:spPr>
      </p:pic>
      <p:sp>
        <p:nvSpPr>
          <p:cNvPr id="4" name="Date Placeholder 3"/>
          <p:cNvSpPr>
            <a:spLocks noGrp="1"/>
          </p:cNvSpPr>
          <p:nvPr>
            <p:ph type="dt" sz="half" idx="10"/>
          </p:nvPr>
        </p:nvSpPr>
        <p:spPr/>
        <p:txBody>
          <a:bodyPr/>
          <a:lstStyle/>
          <a:p>
            <a:fld id="{6708084D-8C1C-40F3-9324-D160108BDF7D}"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20</a:t>
            </a:fld>
            <a:endParaRPr lang="en-IN"/>
          </a:p>
        </p:txBody>
      </p:sp>
      <p:pic>
        <p:nvPicPr>
          <p:cNvPr id="8" name="Picture 7"/>
          <p:cNvPicPr>
            <a:picLocks noChangeAspect="1"/>
          </p:cNvPicPr>
          <p:nvPr/>
        </p:nvPicPr>
        <p:blipFill>
          <a:blip r:embed="rId3"/>
          <a:stretch>
            <a:fillRect/>
          </a:stretch>
        </p:blipFill>
        <p:spPr>
          <a:xfrm>
            <a:off x="6338566" y="1898248"/>
            <a:ext cx="5037957" cy="3911458"/>
          </a:xfrm>
          <a:prstGeom prst="rect">
            <a:avLst/>
          </a:prstGeom>
        </p:spPr>
      </p:pic>
      <p:sp>
        <p:nvSpPr>
          <p:cNvPr id="9" name="Title 1"/>
          <p:cNvSpPr>
            <a:spLocks noGrp="1"/>
          </p:cNvSpPr>
          <p:nvPr>
            <p:ph type="title"/>
          </p:nvPr>
        </p:nvSpPr>
        <p:spPr>
          <a:xfrm>
            <a:off x="0" y="-1676"/>
            <a:ext cx="12192000" cy="685547"/>
          </a:xfrm>
        </p:spPr>
        <p:txBody>
          <a:bodyPr/>
          <a:lstStyle/>
          <a:p>
            <a:pPr algn="ctr"/>
            <a:r>
              <a:rPr lang="en-US" sz="4000" b="1" dirty="0">
                <a:solidFill>
                  <a:prstClr val="black"/>
                </a:solidFill>
              </a:rPr>
              <a:t>Training of a </a:t>
            </a:r>
            <a:r>
              <a:rPr lang="en-US" sz="4000" b="1" dirty="0" smtClean="0">
                <a:solidFill>
                  <a:prstClr val="black"/>
                </a:solidFill>
              </a:rPr>
              <a:t>Multiple </a:t>
            </a:r>
            <a:r>
              <a:rPr lang="en-US" sz="4000" b="1" dirty="0">
                <a:solidFill>
                  <a:prstClr val="black"/>
                </a:solidFill>
              </a:rPr>
              <a:t>RL </a:t>
            </a:r>
            <a:r>
              <a:rPr lang="en-US" sz="4000" b="1" dirty="0" smtClean="0">
                <a:solidFill>
                  <a:prstClr val="black"/>
                </a:solidFill>
              </a:rPr>
              <a:t>Agent’s</a:t>
            </a:r>
            <a:endParaRPr lang="en-IN" dirty="0"/>
          </a:p>
        </p:txBody>
      </p:sp>
    </p:spTree>
    <p:extLst>
      <p:ext uri="{BB962C8B-B14F-4D97-AF65-F5344CB8AC3E}">
        <p14:creationId xmlns:p14="http://schemas.microsoft.com/office/powerpoint/2010/main" val="23838608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3327" y="1238489"/>
            <a:ext cx="10385345" cy="3796497"/>
          </a:xfrm>
        </p:spPr>
      </p:pic>
      <p:sp>
        <p:nvSpPr>
          <p:cNvPr id="4" name="Date Placeholder 3"/>
          <p:cNvSpPr>
            <a:spLocks noGrp="1"/>
          </p:cNvSpPr>
          <p:nvPr>
            <p:ph type="dt" sz="half" idx="10"/>
          </p:nvPr>
        </p:nvSpPr>
        <p:spPr/>
        <p:txBody>
          <a:bodyPr/>
          <a:lstStyle/>
          <a:p>
            <a:fld id="{8D5E835F-9875-4E5C-9D74-4D3E706BD397}"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21</a:t>
            </a:fld>
            <a:endParaRPr lang="en-IN"/>
          </a:p>
        </p:txBody>
      </p:sp>
      <p:sp>
        <p:nvSpPr>
          <p:cNvPr id="8" name="TextBox 7"/>
          <p:cNvSpPr txBox="1"/>
          <p:nvPr/>
        </p:nvSpPr>
        <p:spPr>
          <a:xfrm>
            <a:off x="1104800" y="5266438"/>
            <a:ext cx="10288547" cy="646331"/>
          </a:xfrm>
          <a:prstGeom prst="rect">
            <a:avLst/>
          </a:prstGeom>
          <a:noFill/>
        </p:spPr>
        <p:txBody>
          <a:bodyPr wrap="square" rtlCol="0">
            <a:spAutoFit/>
          </a:bodyPr>
          <a:lstStyle/>
          <a:p>
            <a:r>
              <a:rPr lang="en-US" b="1" dirty="0"/>
              <a:t>Figure 8: High level overview of the multi-agent reinforcement learning (MARL) framework </a:t>
            </a:r>
            <a:r>
              <a:rPr lang="en-US" b="1" dirty="0" smtClean="0"/>
              <a:t>for </a:t>
            </a:r>
            <a:r>
              <a:rPr lang="en-US" b="1" dirty="0"/>
              <a:t>in-field testing of digital microfluidic biochips.</a:t>
            </a:r>
            <a:endParaRPr lang="en-IN" b="1" dirty="0"/>
          </a:p>
        </p:txBody>
      </p:sp>
      <p:sp>
        <p:nvSpPr>
          <p:cNvPr id="10" name="Title 1"/>
          <p:cNvSpPr>
            <a:spLocks noGrp="1"/>
          </p:cNvSpPr>
          <p:nvPr>
            <p:ph type="title"/>
          </p:nvPr>
        </p:nvSpPr>
        <p:spPr>
          <a:xfrm>
            <a:off x="0" y="-1676"/>
            <a:ext cx="12192000" cy="685547"/>
          </a:xfrm>
        </p:spPr>
        <p:txBody>
          <a:bodyPr/>
          <a:lstStyle/>
          <a:p>
            <a:pPr algn="ctr"/>
            <a:r>
              <a:rPr lang="en-IN" sz="4000" b="1" dirty="0" smtClean="0">
                <a:solidFill>
                  <a:prstClr val="black"/>
                </a:solidFill>
              </a:rPr>
              <a:t>Multi-Agent Architecture</a:t>
            </a:r>
            <a:endParaRPr lang="en-IN" dirty="0"/>
          </a:p>
        </p:txBody>
      </p:sp>
    </p:spTree>
    <p:extLst>
      <p:ext uri="{BB962C8B-B14F-4D97-AF65-F5344CB8AC3E}">
        <p14:creationId xmlns:p14="http://schemas.microsoft.com/office/powerpoint/2010/main" val="1827052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38675" y="5397500"/>
            <a:ext cx="10515600" cy="4351338"/>
          </a:xfrm>
        </p:spPr>
        <p:txBody>
          <a:bodyPr/>
          <a:lstStyle/>
          <a:p>
            <a:pPr marL="0" indent="0">
              <a:buNone/>
            </a:pPr>
            <a:r>
              <a:rPr lang="en-IN" dirty="0"/>
              <a:t> </a:t>
            </a:r>
          </a:p>
        </p:txBody>
      </p:sp>
      <p:sp>
        <p:nvSpPr>
          <p:cNvPr id="4" name="Date Placeholder 3"/>
          <p:cNvSpPr>
            <a:spLocks noGrp="1"/>
          </p:cNvSpPr>
          <p:nvPr>
            <p:ph type="dt" sz="half" idx="10"/>
          </p:nvPr>
        </p:nvSpPr>
        <p:spPr/>
        <p:txBody>
          <a:bodyPr/>
          <a:lstStyle/>
          <a:p>
            <a:fld id="{6708084D-8C1C-40F3-9324-D160108BDF7D}"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22</a:t>
            </a:fld>
            <a:endParaRPr lang="en-IN"/>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6732" y="1403169"/>
            <a:ext cx="3705225" cy="3905250"/>
          </a:xfrm>
          <a:prstGeom prst="rect">
            <a:avLst/>
          </a:prstGeom>
        </p:spPr>
      </p:pic>
      <p:sp>
        <p:nvSpPr>
          <p:cNvPr id="8" name="TextBox 7"/>
          <p:cNvSpPr txBox="1"/>
          <p:nvPr/>
        </p:nvSpPr>
        <p:spPr>
          <a:xfrm>
            <a:off x="838200" y="5436490"/>
            <a:ext cx="4299510" cy="369332"/>
          </a:xfrm>
          <a:prstGeom prst="rect">
            <a:avLst/>
          </a:prstGeom>
          <a:noFill/>
        </p:spPr>
        <p:txBody>
          <a:bodyPr wrap="none" rtlCol="0">
            <a:spAutoFit/>
          </a:bodyPr>
          <a:lstStyle/>
          <a:p>
            <a:r>
              <a:rPr lang="en-IN" b="1" dirty="0"/>
              <a:t>Multiplexed </a:t>
            </a:r>
            <a:r>
              <a:rPr lang="en-IN" b="1" dirty="0" err="1"/>
              <a:t>InVitro</a:t>
            </a:r>
            <a:r>
              <a:rPr lang="en-IN" b="1" dirty="0"/>
              <a:t> </a:t>
            </a:r>
            <a:r>
              <a:rPr lang="en-IN" b="1" dirty="0" smtClean="0"/>
              <a:t>Assay on a (16x16) grid</a:t>
            </a:r>
            <a:endParaRPr lang="en-IN" b="1" dirty="0"/>
          </a:p>
        </p:txBody>
      </p:sp>
      <p:sp>
        <p:nvSpPr>
          <p:cNvPr id="9" name="Rectangle 8"/>
          <p:cNvSpPr/>
          <p:nvPr/>
        </p:nvSpPr>
        <p:spPr>
          <a:xfrm>
            <a:off x="2578380" y="1290338"/>
            <a:ext cx="819150" cy="318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7987" y="1403169"/>
            <a:ext cx="3705225" cy="3867150"/>
          </a:xfrm>
          <a:prstGeom prst="rect">
            <a:avLst/>
          </a:prstGeom>
        </p:spPr>
      </p:pic>
      <p:sp>
        <p:nvSpPr>
          <p:cNvPr id="11" name="Rectangle 10"/>
          <p:cNvSpPr/>
          <p:nvPr/>
        </p:nvSpPr>
        <p:spPr>
          <a:xfrm>
            <a:off x="8201024" y="1294585"/>
            <a:ext cx="819150" cy="318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p:cNvSpPr txBox="1"/>
          <p:nvPr/>
        </p:nvSpPr>
        <p:spPr>
          <a:xfrm>
            <a:off x="6448426" y="5444427"/>
            <a:ext cx="4352924" cy="646331"/>
          </a:xfrm>
          <a:prstGeom prst="rect">
            <a:avLst/>
          </a:prstGeom>
          <a:noFill/>
        </p:spPr>
        <p:txBody>
          <a:bodyPr wrap="square" rtlCol="0">
            <a:spAutoFit/>
          </a:bodyPr>
          <a:lstStyle/>
          <a:p>
            <a:pPr algn="ctr"/>
            <a:r>
              <a:rPr lang="en-US" b="1" dirty="0"/>
              <a:t>Mixing of six reagents: A:B:C:E:G:H = 1:1:2:2:1:1 and A:B:D:F:G:H = 1:1:2:2:1:1</a:t>
            </a:r>
          </a:p>
        </p:txBody>
      </p:sp>
      <p:sp>
        <p:nvSpPr>
          <p:cNvPr id="13" name="Title 1"/>
          <p:cNvSpPr txBox="1">
            <a:spLocks/>
          </p:cNvSpPr>
          <p:nvPr/>
        </p:nvSpPr>
        <p:spPr>
          <a:xfrm>
            <a:off x="-1" y="1144"/>
            <a:ext cx="12192000" cy="8763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t>Demonstrations of Multi-Agent In-Field Testing</a:t>
            </a:r>
            <a:endParaRPr lang="en-IN" sz="4000" b="1" dirty="0"/>
          </a:p>
        </p:txBody>
      </p:sp>
    </p:spTree>
    <p:extLst>
      <p:ext uri="{BB962C8B-B14F-4D97-AF65-F5344CB8AC3E}">
        <p14:creationId xmlns:p14="http://schemas.microsoft.com/office/powerpoint/2010/main" val="21243108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3516817368"/>
              </p:ext>
            </p:extLst>
          </p:nvPr>
        </p:nvGraphicFramePr>
        <p:xfrm>
          <a:off x="152401" y="1156501"/>
          <a:ext cx="11772535" cy="2529462"/>
        </p:xfrm>
        <a:graphic>
          <a:graphicData uri="http://schemas.openxmlformats.org/drawingml/2006/table">
            <a:tbl>
              <a:tblPr/>
              <a:tblGrid>
                <a:gridCol w="1027050">
                  <a:extLst>
                    <a:ext uri="{9D8B030D-6E8A-4147-A177-3AD203B41FA5}">
                      <a16:colId xmlns:a16="http://schemas.microsoft.com/office/drawing/2014/main" val="2160048127"/>
                    </a:ext>
                  </a:extLst>
                </a:gridCol>
                <a:gridCol w="8391559">
                  <a:extLst>
                    <a:ext uri="{9D8B030D-6E8A-4147-A177-3AD203B41FA5}">
                      <a16:colId xmlns:a16="http://schemas.microsoft.com/office/drawing/2014/main" val="6239252"/>
                    </a:ext>
                  </a:extLst>
                </a:gridCol>
                <a:gridCol w="1323540">
                  <a:extLst>
                    <a:ext uri="{9D8B030D-6E8A-4147-A177-3AD203B41FA5}">
                      <a16:colId xmlns:a16="http://schemas.microsoft.com/office/drawing/2014/main" val="1558554174"/>
                    </a:ext>
                  </a:extLst>
                </a:gridCol>
                <a:gridCol w="1030386">
                  <a:extLst>
                    <a:ext uri="{9D8B030D-6E8A-4147-A177-3AD203B41FA5}">
                      <a16:colId xmlns:a16="http://schemas.microsoft.com/office/drawing/2014/main" val="3369058291"/>
                    </a:ext>
                  </a:extLst>
                </a:gridCol>
              </a:tblGrid>
              <a:tr h="133887">
                <a:tc>
                  <a:txBody>
                    <a:bodyPr/>
                    <a:lstStyle/>
                    <a:p>
                      <a:pPr algn="ctr"/>
                      <a:r>
                        <a:rPr lang="en-IN" sz="1600" b="1" dirty="0"/>
                        <a:t>Test ID</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IN" sz="1600" b="1" dirty="0"/>
                        <a:t>Assay Name</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IN" sz="1600" b="1" dirty="0"/>
                        <a:t>Dimension</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IN" sz="1600" b="1" dirty="0" err="1"/>
                        <a:t>Tassay</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extLst>
                  <a:ext uri="{0D108BD9-81ED-4DB2-BD59-A6C34878D82A}">
                    <a16:rowId xmlns:a16="http://schemas.microsoft.com/office/drawing/2014/main" val="543439616"/>
                  </a:ext>
                </a:extLst>
              </a:tr>
              <a:tr h="234303">
                <a:tc>
                  <a:txBody>
                    <a:bodyPr/>
                    <a:lstStyle/>
                    <a:p>
                      <a:pPr algn="ctr"/>
                      <a:r>
                        <a:rPr lang="en-IN" sz="1600" b="1" dirty="0"/>
                        <a:t>Assay </a:t>
                      </a:r>
                      <a:r>
                        <a:rPr lang="en-IN" sz="1600" b="1" dirty="0" smtClean="0"/>
                        <a:t>7</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IN" sz="1600" b="1" dirty="0"/>
                        <a:t>Multiplexed InVitro [Su et al., 2006a]</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16 × 16</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160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extLst>
                  <a:ext uri="{0D108BD9-81ED-4DB2-BD59-A6C34878D82A}">
                    <a16:rowId xmlns:a16="http://schemas.microsoft.com/office/drawing/2014/main" val="1229231086"/>
                  </a:ext>
                </a:extLst>
              </a:tr>
              <a:tr h="435134">
                <a:tc>
                  <a:txBody>
                    <a:bodyPr/>
                    <a:lstStyle/>
                    <a:p>
                      <a:pPr algn="ctr"/>
                      <a:r>
                        <a:rPr lang="en-IN" sz="1600" b="1" dirty="0"/>
                        <a:t>Assay 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IN" sz="1600" b="1" dirty="0"/>
                        <a:t>Plasmid DNA [Bhattacharjee et al., 2018] mixing ratios = (</a:t>
                      </a:r>
                      <a:r>
                        <a:rPr lang="en-IN" sz="1600" b="1" dirty="0" smtClean="0"/>
                        <a:t>57:28:6:6:6:3:150</a:t>
                      </a:r>
                      <a:r>
                        <a:rPr lang="en-IN" sz="1600" b="1" dirty="0"/>
                        <a:t>)</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16 × 16</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195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2394074468"/>
                  </a:ext>
                </a:extLst>
              </a:tr>
              <a:tr h="334718">
                <a:tc>
                  <a:txBody>
                    <a:bodyPr/>
                    <a:lstStyle/>
                    <a:p>
                      <a:pPr algn="ctr"/>
                      <a:r>
                        <a:rPr lang="en-IN" sz="1600" b="1" dirty="0"/>
                        <a:t>Assay 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it-IT" sz="1600" b="1" dirty="0"/>
                        <a:t>Multiplexed InVitro &amp; Glucose [Su et al., 2006a, Su et al., 2007]</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18 × 23</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203</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4038430706"/>
                  </a:ext>
                </a:extLst>
              </a:tr>
              <a:tr h="435134">
                <a:tc>
                  <a:txBody>
                    <a:bodyPr/>
                    <a:lstStyle/>
                    <a:p>
                      <a:pPr algn="ctr"/>
                      <a:r>
                        <a:rPr lang="en-IN" sz="1600" b="1" dirty="0"/>
                        <a:t>Assay 10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US" sz="1600" b="1" dirty="0"/>
                        <a:t>Mixing of six reagents: </a:t>
                      </a:r>
                      <a:r>
                        <a:rPr lang="en-US" sz="1600" b="1" dirty="0" smtClean="0"/>
                        <a:t>A:B:C:E:G:H </a:t>
                      </a:r>
                      <a:r>
                        <a:rPr lang="en-US" sz="1600" b="1" dirty="0"/>
                        <a:t>= </a:t>
                      </a:r>
                      <a:r>
                        <a:rPr lang="en-US" sz="1600" b="1" dirty="0" smtClean="0"/>
                        <a:t>1:1:2:2:1:1 </a:t>
                      </a:r>
                      <a:r>
                        <a:rPr lang="en-US" sz="1600" b="1" dirty="0"/>
                        <a:t>and </a:t>
                      </a:r>
                      <a:r>
                        <a:rPr lang="en-US" sz="1600" b="1" dirty="0" smtClean="0"/>
                        <a:t>A:B:D:F:G:H </a:t>
                      </a:r>
                      <a:r>
                        <a:rPr lang="en-US" sz="1600" b="1" dirty="0"/>
                        <a:t>= </a:t>
                      </a:r>
                      <a:r>
                        <a:rPr lang="en-US" sz="1600" b="1" dirty="0" smtClean="0"/>
                        <a:t>1:1:2:2:1:1</a:t>
                      </a:r>
                      <a:endParaRPr lang="en-US"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30 × 30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184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3628088436"/>
                  </a:ext>
                </a:extLst>
              </a:tr>
              <a:tr h="334718">
                <a:tc>
                  <a:txBody>
                    <a:bodyPr/>
                    <a:lstStyle/>
                    <a:p>
                      <a:pPr algn="ctr"/>
                      <a:r>
                        <a:rPr lang="en-IN" sz="1600" b="1" dirty="0"/>
                        <a:t>Assay 11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IN" sz="1600" b="1" dirty="0"/>
                        <a:t>Four instances of Multiplexed Glucose assays [Su et al., 2007]</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32 × 32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128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2914072927"/>
                  </a:ext>
                </a:extLst>
              </a:tr>
              <a:tr h="435134">
                <a:tc>
                  <a:txBody>
                    <a:bodyPr/>
                    <a:lstStyle/>
                    <a:p>
                      <a:pPr algn="ctr"/>
                      <a:r>
                        <a:rPr lang="en-IN" sz="1600" b="1" dirty="0"/>
                        <a:t>Assay 12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r>
                        <a:rPr lang="en-US" sz="1600" b="1" dirty="0"/>
                        <a:t>Combined execution of five complex assays—Assay </a:t>
                      </a:r>
                      <a:r>
                        <a:rPr lang="en-US" sz="1600" b="1" dirty="0" smtClean="0"/>
                        <a:t>2,4,6,8</a:t>
                      </a:r>
                      <a:r>
                        <a:rPr lang="en-US" sz="1600" b="1" baseline="0" dirty="0" smtClean="0"/>
                        <a:t> and </a:t>
                      </a:r>
                      <a:r>
                        <a:rPr lang="en-US" sz="1600" b="1" dirty="0" smtClean="0"/>
                        <a:t>10</a:t>
                      </a:r>
                      <a:endParaRPr lang="en-US"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50 × 50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533</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583075018"/>
                  </a:ext>
                </a:extLst>
              </a:tr>
            </a:tbl>
          </a:graphicData>
        </a:graphic>
      </p:graphicFrame>
      <p:sp>
        <p:nvSpPr>
          <p:cNvPr id="4" name="Date Placeholder 3"/>
          <p:cNvSpPr>
            <a:spLocks noGrp="1"/>
          </p:cNvSpPr>
          <p:nvPr>
            <p:ph type="dt" sz="half" idx="10"/>
          </p:nvPr>
        </p:nvSpPr>
        <p:spPr/>
        <p:txBody>
          <a:bodyPr/>
          <a:lstStyle/>
          <a:p>
            <a:fld id="{9B1C3D66-24D2-43B5-9834-C0847C2211E8}"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23</a:t>
            </a:fld>
            <a:endParaRPr lang="en-IN"/>
          </a:p>
        </p:txBody>
      </p:sp>
      <p:sp>
        <p:nvSpPr>
          <p:cNvPr id="8" name="TextBox 7"/>
          <p:cNvSpPr txBox="1"/>
          <p:nvPr/>
        </p:nvSpPr>
        <p:spPr>
          <a:xfrm>
            <a:off x="3026124" y="797472"/>
            <a:ext cx="6593023" cy="369332"/>
          </a:xfrm>
          <a:prstGeom prst="rect">
            <a:avLst/>
          </a:prstGeom>
          <a:noFill/>
        </p:spPr>
        <p:txBody>
          <a:bodyPr wrap="none" rtlCol="0">
            <a:spAutoFit/>
          </a:bodyPr>
          <a:lstStyle/>
          <a:p>
            <a:r>
              <a:rPr lang="en-IN" dirty="0" smtClean="0"/>
              <a:t>Table 4: Summary of Assays used for comparing different approaches</a:t>
            </a:r>
            <a:endParaRPr lang="en-IN" dirty="0"/>
          </a:p>
        </p:txBody>
      </p:sp>
      <p:graphicFrame>
        <p:nvGraphicFramePr>
          <p:cNvPr id="9" name="Content Placeholder 6"/>
          <p:cNvGraphicFramePr>
            <a:graphicFrameLocks/>
          </p:cNvGraphicFramePr>
          <p:nvPr>
            <p:extLst>
              <p:ext uri="{D42A27DB-BD31-4B8C-83A1-F6EECF244321}">
                <p14:modId xmlns:p14="http://schemas.microsoft.com/office/powerpoint/2010/main" val="539476901"/>
              </p:ext>
            </p:extLst>
          </p:nvPr>
        </p:nvGraphicFramePr>
        <p:xfrm>
          <a:off x="161561" y="4160925"/>
          <a:ext cx="11763374" cy="2543857"/>
        </p:xfrm>
        <a:graphic>
          <a:graphicData uri="http://schemas.openxmlformats.org/drawingml/2006/table">
            <a:tbl>
              <a:tblPr/>
              <a:tblGrid>
                <a:gridCol w="809624">
                  <a:extLst>
                    <a:ext uri="{9D8B030D-6E8A-4147-A177-3AD203B41FA5}">
                      <a16:colId xmlns:a16="http://schemas.microsoft.com/office/drawing/2014/main" val="2826305590"/>
                    </a:ext>
                  </a:extLst>
                </a:gridCol>
                <a:gridCol w="628650">
                  <a:extLst>
                    <a:ext uri="{9D8B030D-6E8A-4147-A177-3AD203B41FA5}">
                      <a16:colId xmlns:a16="http://schemas.microsoft.com/office/drawing/2014/main" val="963106349"/>
                    </a:ext>
                  </a:extLst>
                </a:gridCol>
                <a:gridCol w="1095375">
                  <a:extLst>
                    <a:ext uri="{9D8B030D-6E8A-4147-A177-3AD203B41FA5}">
                      <a16:colId xmlns:a16="http://schemas.microsoft.com/office/drawing/2014/main" val="302027558"/>
                    </a:ext>
                  </a:extLst>
                </a:gridCol>
                <a:gridCol w="819150">
                  <a:extLst>
                    <a:ext uri="{9D8B030D-6E8A-4147-A177-3AD203B41FA5}">
                      <a16:colId xmlns:a16="http://schemas.microsoft.com/office/drawing/2014/main" val="4212218467"/>
                    </a:ext>
                  </a:extLst>
                </a:gridCol>
                <a:gridCol w="2781300">
                  <a:extLst>
                    <a:ext uri="{9D8B030D-6E8A-4147-A177-3AD203B41FA5}">
                      <a16:colId xmlns:a16="http://schemas.microsoft.com/office/drawing/2014/main" val="4272139774"/>
                    </a:ext>
                  </a:extLst>
                </a:gridCol>
                <a:gridCol w="2752725">
                  <a:extLst>
                    <a:ext uri="{9D8B030D-6E8A-4147-A177-3AD203B41FA5}">
                      <a16:colId xmlns:a16="http://schemas.microsoft.com/office/drawing/2014/main" val="4186224023"/>
                    </a:ext>
                  </a:extLst>
                </a:gridCol>
                <a:gridCol w="2876550">
                  <a:extLst>
                    <a:ext uri="{9D8B030D-6E8A-4147-A177-3AD203B41FA5}">
                      <a16:colId xmlns:a16="http://schemas.microsoft.com/office/drawing/2014/main" val="2371449292"/>
                    </a:ext>
                  </a:extLst>
                </a:gridCol>
              </a:tblGrid>
              <a:tr h="535549">
                <a:tc>
                  <a:txBody>
                    <a:bodyPr/>
                    <a:lstStyle/>
                    <a:p>
                      <a:pPr algn="ctr"/>
                      <a:r>
                        <a:rPr lang="en-IN" sz="1600" b="1" dirty="0" smtClean="0"/>
                        <a:t>Test ID</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err="1"/>
                        <a:t>Tassay</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a:t># </a:t>
                      </a:r>
                      <a:r>
                        <a:rPr lang="en-IN" sz="1600" b="1" dirty="0" smtClean="0"/>
                        <a:t>Footprints</a:t>
                      </a:r>
                    </a:p>
                    <a:p>
                      <a:pPr algn="ctr"/>
                      <a:r>
                        <a:rPr lang="en-IN" sz="1600" b="1" dirty="0" smtClean="0"/>
                        <a:t>Edges</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a:t># Agents</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US" sz="1600" b="1" dirty="0"/>
                        <a:t>Test Application Time </a:t>
                      </a:r>
                      <a:r>
                        <a:rPr lang="en-US" sz="1600" b="1" dirty="0" smtClean="0"/>
                        <a:t/>
                      </a:r>
                      <a:br>
                        <a:rPr lang="en-US" sz="1600" b="1" dirty="0" smtClean="0"/>
                      </a:br>
                      <a:r>
                        <a:rPr lang="en-US" sz="1600" b="1" dirty="0" smtClean="0"/>
                        <a:t>(</a:t>
                      </a:r>
                      <a:r>
                        <a:rPr lang="en-US" sz="1600" b="1" dirty="0"/>
                        <a:t>SAT / ε-greedy / Opt. greedy)</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US" sz="1600" b="1" dirty="0"/>
                        <a:t>Running Time (s) </a:t>
                      </a:r>
                      <a:r>
                        <a:rPr lang="en-US" sz="1600" b="1" dirty="0" smtClean="0"/>
                        <a:t/>
                      </a:r>
                      <a:br>
                        <a:rPr lang="en-US" sz="1600" b="1" dirty="0" smtClean="0"/>
                      </a:br>
                      <a:r>
                        <a:rPr lang="en-US" sz="1600" b="1" dirty="0" smtClean="0"/>
                        <a:t>(</a:t>
                      </a:r>
                      <a:r>
                        <a:rPr lang="en-US" sz="1600" b="1" dirty="0"/>
                        <a:t>SAT / ε-greedy / Opt. greedy)</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US" sz="1600" b="1" dirty="0"/>
                        <a:t>Edge Coverage % </a:t>
                      </a:r>
                      <a:r>
                        <a:rPr lang="en-US" sz="1600" b="1" dirty="0" smtClean="0"/>
                        <a:t/>
                      </a:r>
                      <a:br>
                        <a:rPr lang="en-US" sz="1600" b="1" dirty="0" smtClean="0"/>
                      </a:br>
                      <a:r>
                        <a:rPr lang="en-US" sz="1600" b="1" dirty="0" smtClean="0"/>
                        <a:t>(</a:t>
                      </a:r>
                      <a:r>
                        <a:rPr lang="en-US" sz="1600" b="1" dirty="0"/>
                        <a:t>SAT / ε-greedy / Opt. greedy)</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extLst>
                  <a:ext uri="{0D108BD9-81ED-4DB2-BD59-A6C34878D82A}">
                    <a16:rowId xmlns:a16="http://schemas.microsoft.com/office/drawing/2014/main" val="109417480"/>
                  </a:ext>
                </a:extLst>
              </a:tr>
              <a:tr h="334718">
                <a:tc>
                  <a:txBody>
                    <a:bodyPr/>
                    <a:lstStyle/>
                    <a:p>
                      <a:pPr algn="ctr"/>
                      <a:r>
                        <a:rPr lang="en-IN" sz="1600" b="1" dirty="0"/>
                        <a:t>Assay </a:t>
                      </a:r>
                      <a:r>
                        <a:rPr lang="en-IN" sz="1600" b="1" dirty="0" smtClean="0"/>
                        <a:t>7</a:t>
                      </a:r>
                      <a:endParaRPr lang="en-IN" sz="1600" b="1" dirty="0"/>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a:t>160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319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160 / 207 / 182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a:t>19825.27 / 1842.81 / 1695.78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tc>
                  <a:txBody>
                    <a:bodyPr/>
                    <a:lstStyle/>
                    <a:p>
                      <a:pPr algn="ctr"/>
                      <a:r>
                        <a:rPr lang="en-IN" sz="1600" b="1" dirty="0"/>
                        <a:t>100.00 / 87.77 / 95.61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alpha val="70000"/>
                      </a:schemeClr>
                    </a:solidFill>
                  </a:tcPr>
                </a:tc>
                <a:extLst>
                  <a:ext uri="{0D108BD9-81ED-4DB2-BD59-A6C34878D82A}">
                    <a16:rowId xmlns:a16="http://schemas.microsoft.com/office/drawing/2014/main" val="125296249"/>
                  </a:ext>
                </a:extLst>
              </a:tr>
              <a:tr h="334718">
                <a:tc>
                  <a:txBody>
                    <a:bodyPr/>
                    <a:lstStyle/>
                    <a:p>
                      <a:pPr algn="ctr"/>
                      <a:r>
                        <a:rPr lang="en-IN" sz="1600" b="1" dirty="0"/>
                        <a:t>Assay 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a:t>195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115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NA / 243 / 220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Time Out / 1366.26 / 1197.09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NA / 83.47 / 87.82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2166763764"/>
                  </a:ext>
                </a:extLst>
              </a:tr>
              <a:tr h="334718">
                <a:tc>
                  <a:txBody>
                    <a:bodyPr/>
                    <a:lstStyle/>
                    <a:p>
                      <a:pPr algn="ctr"/>
                      <a:r>
                        <a:rPr lang="en-IN" sz="1600" b="1"/>
                        <a:t>Assay 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a:t>203</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382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NA / 277 / 239</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Time Out / 2058.34 / 1975.68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NA / 84.03 / 97.12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3421924378"/>
                  </a:ext>
                </a:extLst>
              </a:tr>
              <a:tr h="334718">
                <a:tc>
                  <a:txBody>
                    <a:bodyPr/>
                    <a:lstStyle/>
                    <a:p>
                      <a:pPr algn="ctr"/>
                      <a:r>
                        <a:rPr lang="en-IN" sz="1600" b="1"/>
                        <a:t>Assay 10</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a:t>184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261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NA / 218 / 211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Time Out / 2178.30 / 2094.44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NA / 95.40 / 98.08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4214157335"/>
                  </a:ext>
                </a:extLst>
              </a:tr>
              <a:tr h="334718">
                <a:tc>
                  <a:txBody>
                    <a:bodyPr/>
                    <a:lstStyle/>
                    <a:p>
                      <a:pPr algn="ctr"/>
                      <a:r>
                        <a:rPr lang="en-IN" sz="1600" b="1"/>
                        <a:t>Assay 11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a:t>128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252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NA / 171 / 151</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Time Out / 1673.85 / 1587.95</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NA / 84.92 / 90.47</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2941434295"/>
                  </a:ext>
                </a:extLst>
              </a:tr>
              <a:tr h="334718">
                <a:tc>
                  <a:txBody>
                    <a:bodyPr/>
                    <a:lstStyle/>
                    <a:p>
                      <a:pPr algn="ctr"/>
                      <a:r>
                        <a:rPr lang="en-IN" sz="1600" b="1" dirty="0"/>
                        <a:t>Assay 12</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alpha val="70000"/>
                      </a:schemeClr>
                    </a:solidFill>
                  </a:tcPr>
                </a:tc>
                <a:tc>
                  <a:txBody>
                    <a:bodyPr/>
                    <a:lstStyle/>
                    <a:p>
                      <a:pPr algn="ctr"/>
                      <a:r>
                        <a:rPr lang="en-IN" sz="1600" b="1" dirty="0"/>
                        <a:t>533</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768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4</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NA / 636 / 598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a:t>Time Out / 8312.18 / 7893.27</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tc>
                  <a:txBody>
                    <a:bodyPr/>
                    <a:lstStyle/>
                    <a:p>
                      <a:pPr algn="ctr"/>
                      <a:r>
                        <a:rPr lang="en-IN" sz="1600" b="1" dirty="0"/>
                        <a:t>NA / 91.53 / 95.18</a:t>
                      </a:r>
                    </a:p>
                  </a:txBody>
                  <a:tcPr marL="33472" marR="33472" marT="16736" marB="167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alpha val="50000"/>
                      </a:schemeClr>
                    </a:solidFill>
                  </a:tcPr>
                </a:tc>
                <a:extLst>
                  <a:ext uri="{0D108BD9-81ED-4DB2-BD59-A6C34878D82A}">
                    <a16:rowId xmlns:a16="http://schemas.microsoft.com/office/drawing/2014/main" val="996666862"/>
                  </a:ext>
                </a:extLst>
              </a:tr>
            </a:tbl>
          </a:graphicData>
        </a:graphic>
      </p:graphicFrame>
      <p:sp>
        <p:nvSpPr>
          <p:cNvPr id="10" name="TextBox 9"/>
          <p:cNvSpPr txBox="1"/>
          <p:nvPr/>
        </p:nvSpPr>
        <p:spPr>
          <a:xfrm>
            <a:off x="3026124" y="3791593"/>
            <a:ext cx="6449138" cy="369332"/>
          </a:xfrm>
          <a:prstGeom prst="rect">
            <a:avLst/>
          </a:prstGeom>
          <a:noFill/>
        </p:spPr>
        <p:txBody>
          <a:bodyPr wrap="none" rtlCol="0">
            <a:spAutoFit/>
          </a:bodyPr>
          <a:lstStyle/>
          <a:p>
            <a:r>
              <a:rPr lang="en-IN" dirty="0" smtClean="0"/>
              <a:t>Table 5: Comparison of Experiments on Test Assays Across Methods</a:t>
            </a:r>
            <a:endParaRPr lang="en-IN" dirty="0"/>
          </a:p>
        </p:txBody>
      </p:sp>
      <p:sp>
        <p:nvSpPr>
          <p:cNvPr id="11" name="Title 1"/>
          <p:cNvSpPr>
            <a:spLocks noGrp="1"/>
          </p:cNvSpPr>
          <p:nvPr>
            <p:ph type="title"/>
          </p:nvPr>
        </p:nvSpPr>
        <p:spPr>
          <a:xfrm>
            <a:off x="0" y="1"/>
            <a:ext cx="12192000" cy="876300"/>
          </a:xfrm>
        </p:spPr>
        <p:txBody>
          <a:bodyPr>
            <a:normAutofit/>
          </a:bodyPr>
          <a:lstStyle/>
          <a:p>
            <a:pPr algn="ctr"/>
            <a:r>
              <a:rPr lang="en-US" sz="4000" b="1" dirty="0"/>
              <a:t>Experimental Setup and Results </a:t>
            </a:r>
            <a:r>
              <a:rPr lang="en-US" sz="4000" b="1" dirty="0" smtClean="0"/>
              <a:t>II</a:t>
            </a:r>
            <a:endParaRPr lang="en-IN" sz="4000" b="1" dirty="0"/>
          </a:p>
        </p:txBody>
      </p:sp>
    </p:spTree>
    <p:extLst>
      <p:ext uri="{BB962C8B-B14F-4D97-AF65-F5344CB8AC3E}">
        <p14:creationId xmlns:p14="http://schemas.microsoft.com/office/powerpoint/2010/main" val="709664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16339"/>
            <a:ext cx="10515600" cy="4351338"/>
          </a:xfrm>
        </p:spPr>
        <p:txBody>
          <a:bodyPr>
            <a:normAutofit/>
          </a:bodyPr>
          <a:lstStyle/>
          <a:p>
            <a:r>
              <a:rPr lang="en-US" sz="2400" dirty="0" smtClean="0"/>
              <a:t>The proposed RL based in-field testing framework achieves near-optimal test plans with significantly reduced computation time. </a:t>
            </a:r>
          </a:p>
          <a:p>
            <a:r>
              <a:rPr lang="en-US" sz="2400" dirty="0" smtClean="0"/>
              <a:t>For example, in Assay 5, RL achieves ∼3% less coverage than SAT but with a ∼10× speedup (1275s vs. 12,698s) on a 13×13 grid. </a:t>
            </a:r>
          </a:p>
          <a:p>
            <a:r>
              <a:rPr lang="en-US" sz="2400" dirty="0" smtClean="0"/>
              <a:t>In more complex assays (Assay 7–12), SAT solvers failed to generate test plans, while RL based methods successfully produced high-coverage solutions within reasonable runtime. </a:t>
            </a:r>
          </a:p>
          <a:p>
            <a:r>
              <a:rPr lang="en-US" sz="2400" dirty="0" smtClean="0"/>
              <a:t>Among the two RL strategies, optimistic Q-learning converged faster and achieved better test application time (TAT) compared to ϵ-greedy. </a:t>
            </a:r>
          </a:p>
          <a:p>
            <a:r>
              <a:rPr lang="en-US" sz="2400" dirty="0" smtClean="0"/>
              <a:t>These results demonstrate that the RL based approach is scalable, efficient, and effective for in-field test generation on DMBs.</a:t>
            </a:r>
            <a:endParaRPr lang="en-IN" sz="2400" dirty="0"/>
          </a:p>
        </p:txBody>
      </p:sp>
      <p:sp>
        <p:nvSpPr>
          <p:cNvPr id="4" name="Date Placeholder 3"/>
          <p:cNvSpPr>
            <a:spLocks noGrp="1"/>
          </p:cNvSpPr>
          <p:nvPr>
            <p:ph type="dt" sz="half" idx="10"/>
          </p:nvPr>
        </p:nvSpPr>
        <p:spPr/>
        <p:txBody>
          <a:bodyPr/>
          <a:lstStyle/>
          <a:p>
            <a:fld id="{EA96C9F5-3EB4-47A5-90EA-93557D38392C}"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24</a:t>
            </a:fld>
            <a:endParaRPr lang="en-IN"/>
          </a:p>
        </p:txBody>
      </p:sp>
      <p:sp>
        <p:nvSpPr>
          <p:cNvPr id="8" name="Title 1"/>
          <p:cNvSpPr>
            <a:spLocks noGrp="1"/>
          </p:cNvSpPr>
          <p:nvPr>
            <p:ph type="title"/>
          </p:nvPr>
        </p:nvSpPr>
        <p:spPr>
          <a:xfrm>
            <a:off x="0" y="1"/>
            <a:ext cx="12192000" cy="876300"/>
          </a:xfrm>
        </p:spPr>
        <p:txBody>
          <a:bodyPr>
            <a:normAutofit/>
          </a:bodyPr>
          <a:lstStyle/>
          <a:p>
            <a:pPr algn="ctr"/>
            <a:r>
              <a:rPr lang="en-US" sz="4000" b="1" dirty="0" smtClean="0"/>
              <a:t>Conclusion</a:t>
            </a:r>
            <a:endParaRPr lang="en-IN" sz="4000" b="1" dirty="0"/>
          </a:p>
        </p:txBody>
      </p:sp>
    </p:spTree>
    <p:extLst>
      <p:ext uri="{BB962C8B-B14F-4D97-AF65-F5344CB8AC3E}">
        <p14:creationId xmlns:p14="http://schemas.microsoft.com/office/powerpoint/2010/main" val="31439724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42663"/>
            <a:ext cx="10515600" cy="4834300"/>
          </a:xfrm>
        </p:spPr>
        <p:txBody>
          <a:bodyPr>
            <a:normAutofit/>
          </a:bodyPr>
          <a:lstStyle/>
          <a:p>
            <a:pPr marL="0" indent="0" algn="ctr">
              <a:buNone/>
            </a:pPr>
            <a:r>
              <a:rPr lang="en-US" sz="2400" dirty="0" smtClean="0"/>
              <a:t>I would like to express my sincere gratitude to: </a:t>
            </a:r>
          </a:p>
          <a:p>
            <a:pPr marL="0" indent="0" algn="ctr">
              <a:buNone/>
            </a:pPr>
            <a:r>
              <a:rPr lang="en-US" sz="2400" b="1" dirty="0" smtClean="0"/>
              <a:t>Dr. Sukanta Bhattacharjee</a:t>
            </a:r>
            <a:r>
              <a:rPr lang="en-US" sz="2400" dirty="0" smtClean="0"/>
              <a:t>, Department of Computer Science and Engineering, IIT Guwahati, for his continuous guidance, encouragement, and insightful feedback throughout this work. </a:t>
            </a:r>
          </a:p>
          <a:p>
            <a:pPr marL="0" indent="0" algn="ctr">
              <a:buNone/>
            </a:pPr>
            <a:r>
              <a:rPr lang="en-US" sz="2400" b="1" dirty="0" smtClean="0"/>
              <a:t>Dr. </a:t>
            </a:r>
            <a:r>
              <a:rPr lang="en-US" sz="2400" b="1" dirty="0" err="1" smtClean="0"/>
              <a:t>Arghyadip</a:t>
            </a:r>
            <a:r>
              <a:rPr lang="en-US" sz="2400" b="1" dirty="0" smtClean="0"/>
              <a:t> Roy</a:t>
            </a:r>
            <a:r>
              <a:rPr lang="en-US" sz="2400" dirty="0" smtClean="0"/>
              <a:t>, Mehta Family School of Data Science and Artificial Intelligence, IIT Guwahati, for his valuable suggestions and technical inputs that significantly contributed to the development of this research. Their support has been instrumental in shaping this work and bringing it to completion. </a:t>
            </a:r>
          </a:p>
          <a:p>
            <a:pPr marL="0" indent="0" algn="ctr">
              <a:buNone/>
            </a:pPr>
            <a:r>
              <a:rPr lang="en-US" sz="2400" dirty="0" smtClean="0"/>
              <a:t>Thank You! </a:t>
            </a:r>
          </a:p>
          <a:p>
            <a:pPr marL="0" indent="0" algn="ctr">
              <a:buNone/>
            </a:pPr>
            <a:r>
              <a:rPr lang="en-US" sz="2400" dirty="0" smtClean="0"/>
              <a:t>r.koshta@iitg.ac.in</a:t>
            </a:r>
            <a:endParaRPr lang="en-IN" sz="2400" dirty="0"/>
          </a:p>
        </p:txBody>
      </p:sp>
      <p:sp>
        <p:nvSpPr>
          <p:cNvPr id="4" name="Date Placeholder 3"/>
          <p:cNvSpPr>
            <a:spLocks noGrp="1"/>
          </p:cNvSpPr>
          <p:nvPr>
            <p:ph type="dt" sz="half" idx="10"/>
          </p:nvPr>
        </p:nvSpPr>
        <p:spPr/>
        <p:txBody>
          <a:bodyPr/>
          <a:lstStyle/>
          <a:p>
            <a:fld id="{0C81C3AD-0229-4140-BC47-FCB4BC27B05E}"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25</a:t>
            </a:fld>
            <a:endParaRPr lang="en-IN"/>
          </a:p>
        </p:txBody>
      </p:sp>
      <p:sp>
        <p:nvSpPr>
          <p:cNvPr id="8" name="Title 1"/>
          <p:cNvSpPr>
            <a:spLocks noGrp="1"/>
          </p:cNvSpPr>
          <p:nvPr>
            <p:ph type="title"/>
          </p:nvPr>
        </p:nvSpPr>
        <p:spPr>
          <a:xfrm>
            <a:off x="0" y="1"/>
            <a:ext cx="12192000" cy="876300"/>
          </a:xfrm>
        </p:spPr>
        <p:txBody>
          <a:bodyPr>
            <a:normAutofit/>
          </a:bodyPr>
          <a:lstStyle/>
          <a:p>
            <a:pPr algn="ctr"/>
            <a:r>
              <a:rPr lang="en-US" sz="4000" b="1" dirty="0" smtClean="0"/>
              <a:t>Acknowledgements</a:t>
            </a:r>
            <a:endParaRPr lang="en-IN" sz="4000" b="1" dirty="0"/>
          </a:p>
        </p:txBody>
      </p:sp>
    </p:spTree>
    <p:extLst>
      <p:ext uri="{BB962C8B-B14F-4D97-AF65-F5344CB8AC3E}">
        <p14:creationId xmlns:p14="http://schemas.microsoft.com/office/powerpoint/2010/main" val="39774239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514350" indent="-514350">
              <a:buFont typeface="+mj-lt"/>
              <a:buAutoNum type="arabicPeriod"/>
            </a:pPr>
            <a:r>
              <a:rPr lang="en-IN" sz="1400" dirty="0" smtClean="0"/>
              <a:t>Bhattacharjee, S., Chen, Y.-L., Huang, J.-D., and Bhattacharya, B. B. (2018). Concentration-resilient mixture preparation with digital microfluidic lab-on-chip. ACM Transactions on Embedded Computing Systems (TECS), 17(2):1–12. </a:t>
            </a:r>
          </a:p>
          <a:p>
            <a:pPr marL="514350" indent="-514350">
              <a:buFont typeface="+mj-lt"/>
              <a:buAutoNum type="arabicPeriod"/>
            </a:pPr>
            <a:r>
              <a:rPr lang="en-IN" sz="1400" dirty="0" smtClean="0"/>
              <a:t>Bhattacharjee, S., </a:t>
            </a:r>
            <a:r>
              <a:rPr lang="en-IN" sz="1400" dirty="0" err="1" smtClean="0"/>
              <a:t>Mitra</a:t>
            </a:r>
            <a:r>
              <a:rPr lang="en-IN" sz="1400" dirty="0" smtClean="0"/>
              <a:t>, D., and Bhattacharya, B. B. (2017). Robust in-field testing of digital microfluidic biochips. ACM Journal on Emerging Technologies in Computing Systems (JETC), 14(1):1–17. </a:t>
            </a:r>
          </a:p>
          <a:p>
            <a:pPr marL="514350" indent="-514350">
              <a:buFont typeface="+mj-lt"/>
              <a:buAutoNum type="arabicPeriod"/>
            </a:pPr>
            <a:r>
              <a:rPr lang="en-IN" sz="1400" dirty="0" err="1" smtClean="0"/>
              <a:t>Dinh</a:t>
            </a:r>
            <a:r>
              <a:rPr lang="en-IN" sz="1400" dirty="0" smtClean="0"/>
              <a:t>, T. A., Yamashita, S., </a:t>
            </a:r>
            <a:r>
              <a:rPr lang="en-IN" sz="1400" dirty="0" err="1" smtClean="0"/>
              <a:t>Ho</a:t>
            </a:r>
            <a:r>
              <a:rPr lang="en-IN" sz="1400" dirty="0" smtClean="0"/>
              <a:t>, T.-Y., and </a:t>
            </a:r>
            <a:r>
              <a:rPr lang="en-IN" sz="1400" dirty="0" err="1" smtClean="0"/>
              <a:t>Chakrabarty</a:t>
            </a:r>
            <a:r>
              <a:rPr lang="en-IN" sz="1400" dirty="0" smtClean="0"/>
              <a:t>, K. (2015). A general testing method for digital microfluidic biochips under physical constraints. In 2015 IEEE International Test Conference (ITC), pages 1–8. IEEE. </a:t>
            </a:r>
          </a:p>
          <a:p>
            <a:pPr marL="514350" indent="-514350">
              <a:buFont typeface="+mj-lt"/>
              <a:buAutoNum type="arabicPeriod"/>
            </a:pPr>
            <a:r>
              <a:rPr lang="en-IN" sz="1400" dirty="0" err="1" smtClean="0"/>
              <a:t>Elfar</a:t>
            </a:r>
            <a:r>
              <a:rPr lang="en-IN" sz="1400" dirty="0" smtClean="0"/>
              <a:t>, M., Chang, Y.-C., Ku, H. H.-Y., Liang, T.-C., </a:t>
            </a:r>
            <a:r>
              <a:rPr lang="en-IN" sz="1400" dirty="0" err="1" smtClean="0"/>
              <a:t>Chakrabarty</a:t>
            </a:r>
            <a:r>
              <a:rPr lang="en-IN" sz="1400" dirty="0" smtClean="0"/>
              <a:t>, K., and </a:t>
            </a:r>
            <a:r>
              <a:rPr lang="en-IN" sz="1400" dirty="0" err="1" smtClean="0"/>
              <a:t>Pajic</a:t>
            </a:r>
            <a:r>
              <a:rPr lang="en-IN" sz="1400" dirty="0" smtClean="0"/>
              <a:t>, M. (2022). Deep reinforcement learning-based approach for efficient and reliable droplet routing on </a:t>
            </a:r>
            <a:r>
              <a:rPr lang="en-IN" sz="1400" dirty="0" err="1" smtClean="0"/>
              <a:t>meda</a:t>
            </a:r>
            <a:r>
              <a:rPr lang="en-IN" sz="1400" dirty="0" smtClean="0"/>
              <a:t> biochips. IEEE Transactions on Computer-Aided Design of Integrated Circuits and Systems, 42(4):1212–1222. </a:t>
            </a:r>
          </a:p>
          <a:p>
            <a:pPr marL="514350" indent="-514350">
              <a:buFont typeface="+mj-lt"/>
              <a:buAutoNum type="arabicPeriod"/>
            </a:pPr>
            <a:r>
              <a:rPr lang="en-IN" sz="1400" dirty="0" smtClean="0"/>
              <a:t>Kawakami, T., </a:t>
            </a:r>
            <a:r>
              <a:rPr lang="en-IN" sz="1400" dirty="0" err="1" smtClean="0"/>
              <a:t>Shiro</a:t>
            </a:r>
            <a:r>
              <a:rPr lang="en-IN" sz="1400" dirty="0" smtClean="0"/>
              <a:t>, C., Nishikawa, H., Kong, X., </a:t>
            </a:r>
            <a:r>
              <a:rPr lang="en-IN" sz="1400" dirty="0" err="1" smtClean="0"/>
              <a:t>Tomiyama</a:t>
            </a:r>
            <a:r>
              <a:rPr lang="en-IN" sz="1400" dirty="0" smtClean="0"/>
              <a:t>, H., and Yamashita, S. (2023). A deep reinforcement learning-based routing algorithm for unknown erroneous cells in </a:t>
            </a:r>
            <a:r>
              <a:rPr lang="en-IN" sz="1400" dirty="0" err="1" smtClean="0"/>
              <a:t>dmfbs</a:t>
            </a:r>
            <a:r>
              <a:rPr lang="en-IN" sz="1400" dirty="0" smtClean="0"/>
              <a:t>. In 2023 21st IEEE Interregional NEWCAS Conference (NEWCAS), pages 1–5. IEEE. </a:t>
            </a:r>
          </a:p>
          <a:p>
            <a:pPr marL="514350" indent="-514350">
              <a:buFont typeface="+mj-lt"/>
              <a:buAutoNum type="arabicPeriod"/>
            </a:pPr>
            <a:r>
              <a:rPr lang="en-IN" sz="1400" dirty="0" smtClean="0"/>
              <a:t>Liang, T.-C. (2021). Parallel droplet control in </a:t>
            </a:r>
            <a:r>
              <a:rPr lang="en-IN" sz="1400" dirty="0" err="1" smtClean="0"/>
              <a:t>meda</a:t>
            </a:r>
            <a:r>
              <a:rPr lang="en-IN" sz="1400" dirty="0" smtClean="0"/>
              <a:t> biochips using multi-agent reinforcement learning. In International Conference on Machine Learning.</a:t>
            </a:r>
          </a:p>
          <a:p>
            <a:pPr marL="514350" indent="-514350">
              <a:buFont typeface="+mj-lt"/>
              <a:buAutoNum type="arabicPeriod"/>
            </a:pPr>
            <a:r>
              <a:rPr lang="en-IN" sz="1400" dirty="0" smtClean="0"/>
              <a:t>Liang, T.-C., Chang, Y.-C., </a:t>
            </a:r>
            <a:r>
              <a:rPr lang="en-IN" sz="1400" dirty="0" err="1" smtClean="0"/>
              <a:t>Zhong</a:t>
            </a:r>
            <a:r>
              <a:rPr lang="en-IN" sz="1400" dirty="0" smtClean="0"/>
              <a:t>, Z., </a:t>
            </a:r>
            <a:r>
              <a:rPr lang="en-IN" sz="1400" dirty="0" err="1" smtClean="0"/>
              <a:t>Bigdeli</a:t>
            </a:r>
            <a:r>
              <a:rPr lang="en-IN" sz="1400" dirty="0" smtClean="0"/>
              <a:t>, Y., </a:t>
            </a:r>
            <a:r>
              <a:rPr lang="en-IN" sz="1400" dirty="0" err="1" smtClean="0"/>
              <a:t>Ho</a:t>
            </a:r>
            <a:r>
              <a:rPr lang="en-IN" sz="1400" dirty="0" smtClean="0"/>
              <a:t>, T.-Y., </a:t>
            </a:r>
            <a:r>
              <a:rPr lang="en-IN" sz="1400" dirty="0" err="1" smtClean="0"/>
              <a:t>Chakrabarty</a:t>
            </a:r>
            <a:r>
              <a:rPr lang="en-IN" sz="1400" dirty="0" smtClean="0"/>
              <a:t>, K., and Fair, R. (2024). Dynamic adaptation using deep reinforcement learning for digital microfluidic biochips. ACM Transactions on Design Automation of Electronic Systems, 29(2):1–24. </a:t>
            </a:r>
          </a:p>
          <a:p>
            <a:pPr marL="514350" indent="-514350">
              <a:buFont typeface="+mj-lt"/>
              <a:buAutoNum type="arabicPeriod"/>
            </a:pPr>
            <a:r>
              <a:rPr lang="en-IN" sz="1400" dirty="0" smtClean="0"/>
              <a:t>Liang, T.-C. and </a:t>
            </a:r>
            <a:r>
              <a:rPr lang="en-IN" sz="1400" dirty="0" err="1" smtClean="0"/>
              <a:t>Zhong</a:t>
            </a:r>
            <a:r>
              <a:rPr lang="en-IN" sz="1400" dirty="0" smtClean="0"/>
              <a:t>, Z. (2020). Adaptive droplet routing in digital microfluidic biochips using deep reinforcement learning. In Proceedings of the 37th International Conference on Machine Learning.</a:t>
            </a:r>
            <a:endParaRPr lang="en-IN" sz="1400" dirty="0"/>
          </a:p>
        </p:txBody>
      </p:sp>
      <p:sp>
        <p:nvSpPr>
          <p:cNvPr id="4" name="Date Placeholder 3"/>
          <p:cNvSpPr>
            <a:spLocks noGrp="1"/>
          </p:cNvSpPr>
          <p:nvPr>
            <p:ph type="dt" sz="half" idx="10"/>
          </p:nvPr>
        </p:nvSpPr>
        <p:spPr/>
        <p:txBody>
          <a:bodyPr/>
          <a:lstStyle/>
          <a:p>
            <a:fld id="{A62343E5-3DD2-4AA1-B5C8-BF43922134D3}"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26</a:t>
            </a:fld>
            <a:endParaRPr lang="en-IN"/>
          </a:p>
        </p:txBody>
      </p:sp>
      <p:sp>
        <p:nvSpPr>
          <p:cNvPr id="8" name="Title 1"/>
          <p:cNvSpPr>
            <a:spLocks noGrp="1"/>
          </p:cNvSpPr>
          <p:nvPr>
            <p:ph type="title"/>
          </p:nvPr>
        </p:nvSpPr>
        <p:spPr>
          <a:xfrm>
            <a:off x="0" y="1"/>
            <a:ext cx="12192000" cy="876300"/>
          </a:xfrm>
        </p:spPr>
        <p:txBody>
          <a:bodyPr>
            <a:normAutofit/>
          </a:bodyPr>
          <a:lstStyle/>
          <a:p>
            <a:pPr algn="ctr"/>
            <a:r>
              <a:rPr lang="en-US" sz="4000" b="1" dirty="0" smtClean="0"/>
              <a:t>References I</a:t>
            </a:r>
            <a:endParaRPr lang="en-IN" sz="4000" b="1" dirty="0"/>
          </a:p>
        </p:txBody>
      </p:sp>
    </p:spTree>
    <p:extLst>
      <p:ext uri="{BB962C8B-B14F-4D97-AF65-F5344CB8AC3E}">
        <p14:creationId xmlns:p14="http://schemas.microsoft.com/office/powerpoint/2010/main" val="5329124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514350" indent="-514350">
              <a:buFont typeface="+mj-lt"/>
              <a:buAutoNum type="arabicPeriod" startAt="9"/>
            </a:pPr>
            <a:r>
              <a:rPr lang="en-IN" sz="1400" dirty="0" err="1" smtClean="0"/>
              <a:t>Mitra</a:t>
            </a:r>
            <a:r>
              <a:rPr lang="en-IN" sz="1400" dirty="0" smtClean="0"/>
              <a:t>, D., </a:t>
            </a:r>
            <a:r>
              <a:rPr lang="en-IN" sz="1400" dirty="0" err="1" smtClean="0"/>
              <a:t>Ghoshal</a:t>
            </a:r>
            <a:r>
              <a:rPr lang="en-IN" sz="1400" dirty="0" smtClean="0"/>
              <a:t>, S., </a:t>
            </a:r>
            <a:r>
              <a:rPr lang="en-IN" sz="1400" dirty="0" err="1" smtClean="0"/>
              <a:t>Rahaman</a:t>
            </a:r>
            <a:r>
              <a:rPr lang="en-IN" sz="1400" dirty="0" smtClean="0"/>
              <a:t>, H., </a:t>
            </a:r>
            <a:r>
              <a:rPr lang="en-IN" sz="1400" dirty="0" err="1" smtClean="0"/>
              <a:t>Chakrabarty</a:t>
            </a:r>
            <a:r>
              <a:rPr lang="en-IN" sz="1400" dirty="0" smtClean="0"/>
              <a:t>, K., and Bhattacharya, B. B. (2011). Test planning in digital microfluidic biochips using efficient </a:t>
            </a:r>
            <a:r>
              <a:rPr lang="en-IN" sz="1400" dirty="0" err="1" smtClean="0"/>
              <a:t>eulerization</a:t>
            </a:r>
            <a:r>
              <a:rPr lang="en-IN" sz="1400" dirty="0" smtClean="0"/>
              <a:t> techniques. Journal of Electronic Testing, 27:657–671. </a:t>
            </a:r>
          </a:p>
          <a:p>
            <a:pPr marL="514350" indent="-514350">
              <a:buFont typeface="+mj-lt"/>
              <a:buAutoNum type="arabicPeriod" startAt="9"/>
            </a:pPr>
            <a:r>
              <a:rPr lang="en-IN" sz="1400" dirty="0" err="1" smtClean="0"/>
              <a:t>Mitra</a:t>
            </a:r>
            <a:r>
              <a:rPr lang="en-IN" sz="1400" dirty="0" smtClean="0"/>
              <a:t>, D., </a:t>
            </a:r>
            <a:r>
              <a:rPr lang="en-IN" sz="1400" dirty="0" err="1" smtClean="0"/>
              <a:t>Ghoshal</a:t>
            </a:r>
            <a:r>
              <a:rPr lang="en-IN" sz="1400" dirty="0" smtClean="0"/>
              <a:t>, S., </a:t>
            </a:r>
            <a:r>
              <a:rPr lang="en-IN" sz="1400" dirty="0" err="1" smtClean="0"/>
              <a:t>Rahaman</a:t>
            </a:r>
            <a:r>
              <a:rPr lang="en-IN" sz="1400" dirty="0" smtClean="0"/>
              <a:t>, H., </a:t>
            </a:r>
            <a:r>
              <a:rPr lang="en-IN" sz="1400" dirty="0" err="1" smtClean="0"/>
              <a:t>Chakrabarty</a:t>
            </a:r>
            <a:r>
              <a:rPr lang="en-IN" sz="1400" dirty="0" smtClean="0"/>
              <a:t>, K., and Bhattacharya, B. B. (2012). On-line error detection in digital microfluidic biochips. In 2012 IEEE 21st Asian Test Symposium, pages 332–337. IEEE. </a:t>
            </a:r>
          </a:p>
          <a:p>
            <a:pPr marL="514350" indent="-514350">
              <a:buFont typeface="+mj-lt"/>
              <a:buAutoNum type="arabicPeriod" startAt="9"/>
            </a:pPr>
            <a:r>
              <a:rPr lang="en-IN" sz="1400" dirty="0" smtClean="0"/>
              <a:t>Roy, S., Kumar, S., </a:t>
            </a:r>
            <a:r>
              <a:rPr lang="en-IN" sz="1400" dirty="0" err="1" smtClean="0"/>
              <a:t>Chakrabarti</a:t>
            </a:r>
            <a:r>
              <a:rPr lang="en-IN" sz="1400" dirty="0" smtClean="0"/>
              <a:t>, P. P., Bhattacharya, B. B., and </a:t>
            </a:r>
            <a:r>
              <a:rPr lang="en-IN" sz="1400" dirty="0" err="1" smtClean="0"/>
              <a:t>Chakrabarty</a:t>
            </a:r>
            <a:r>
              <a:rPr lang="en-IN" sz="1400" dirty="0" smtClean="0"/>
              <a:t>, K. (2014). Demand-driven mixture preparation and droplet streaming using digital microfluidic biochips. In Proceedings of the 51st Annual Design Automation Conference, pages 1–6. </a:t>
            </a:r>
          </a:p>
          <a:p>
            <a:pPr marL="514350" indent="-514350">
              <a:buFont typeface="+mj-lt"/>
              <a:buAutoNum type="arabicPeriod" startAt="9"/>
            </a:pPr>
            <a:r>
              <a:rPr lang="en-IN" sz="1400" dirty="0" smtClean="0"/>
              <a:t>Su, F., Hwang, W., and </a:t>
            </a:r>
            <a:r>
              <a:rPr lang="en-IN" sz="1400" dirty="0" err="1" smtClean="0"/>
              <a:t>Chakrabarty</a:t>
            </a:r>
            <a:r>
              <a:rPr lang="en-IN" sz="1400" dirty="0" smtClean="0"/>
              <a:t>, K. (2006a). Droplet routing in the synthesis of digital microfluidic biochips. In Proceedings of the design automation &amp; test in Europe conference, volume 1, pages 1–6. IEEE. </a:t>
            </a:r>
          </a:p>
          <a:p>
            <a:pPr marL="514350" indent="-514350">
              <a:buFont typeface="+mj-lt"/>
              <a:buAutoNum type="arabicPeriod" startAt="9"/>
            </a:pPr>
            <a:r>
              <a:rPr lang="en-IN" sz="1400" dirty="0" smtClean="0"/>
              <a:t>Su, F., Hwang, W., Mukherjee, A., and </a:t>
            </a:r>
            <a:r>
              <a:rPr lang="en-IN" sz="1400" dirty="0" err="1" smtClean="0"/>
              <a:t>Chakrabarty</a:t>
            </a:r>
            <a:r>
              <a:rPr lang="en-IN" sz="1400" dirty="0" smtClean="0"/>
              <a:t>, K. (2007). Testing and diagnosis of realistic defects in digital microfluidic biochips. Journal of Electronic Testing, 23(2):219–233. </a:t>
            </a:r>
          </a:p>
          <a:p>
            <a:pPr marL="514350" indent="-514350">
              <a:buFont typeface="+mj-lt"/>
              <a:buAutoNum type="arabicPeriod" startAt="9"/>
            </a:pPr>
            <a:r>
              <a:rPr lang="en-IN" sz="1400" dirty="0" smtClean="0"/>
              <a:t>Su, F., </a:t>
            </a:r>
            <a:r>
              <a:rPr lang="en-IN" sz="1400" dirty="0" err="1" smtClean="0"/>
              <a:t>Ozev</a:t>
            </a:r>
            <a:r>
              <a:rPr lang="en-IN" sz="1400" dirty="0" smtClean="0"/>
              <a:t>, S., and </a:t>
            </a:r>
            <a:r>
              <a:rPr lang="en-IN" sz="1400" dirty="0" err="1" smtClean="0"/>
              <a:t>Chakrabarty</a:t>
            </a:r>
            <a:r>
              <a:rPr lang="en-IN" sz="1400" dirty="0" smtClean="0"/>
              <a:t>, K. (2006b). Concurrent testing of digital microfluidics-based biochips. ACM Transactions on Design Automation of Electronic Systems (TODAES), 11(2):442–464. </a:t>
            </a:r>
          </a:p>
          <a:p>
            <a:pPr marL="514350" indent="-514350">
              <a:buFont typeface="+mj-lt"/>
              <a:buAutoNum type="arabicPeriod" startAt="9"/>
            </a:pPr>
            <a:r>
              <a:rPr lang="en-IN" sz="1400" dirty="0" err="1" smtClean="0"/>
              <a:t>Zhong</a:t>
            </a:r>
            <a:r>
              <a:rPr lang="en-IN" sz="1400" dirty="0" smtClean="0"/>
              <a:t>, Z., Li, Z., </a:t>
            </a:r>
            <a:r>
              <a:rPr lang="en-IN" sz="1400" dirty="0" err="1" smtClean="0"/>
              <a:t>Chakrabarty</a:t>
            </a:r>
            <a:r>
              <a:rPr lang="en-IN" sz="1400" dirty="0" smtClean="0"/>
              <a:t>, K., </a:t>
            </a:r>
            <a:r>
              <a:rPr lang="en-IN" sz="1400" dirty="0" err="1" smtClean="0"/>
              <a:t>Ho</a:t>
            </a:r>
            <a:r>
              <a:rPr lang="en-IN" sz="1400" dirty="0" smtClean="0"/>
              <a:t>, T.-Y., and Lee, C.-Y. (2018). Micro-electrode-dot-array digital microfluidic biochips: Technology, design automation, and test techniques. IEEE Transactions on Biomedical Circuits and Systems, 13(2):292–313.</a:t>
            </a:r>
            <a:endParaRPr lang="en-IN" sz="1400" dirty="0"/>
          </a:p>
        </p:txBody>
      </p:sp>
      <p:sp>
        <p:nvSpPr>
          <p:cNvPr id="4" name="Date Placeholder 3"/>
          <p:cNvSpPr>
            <a:spLocks noGrp="1"/>
          </p:cNvSpPr>
          <p:nvPr>
            <p:ph type="dt" sz="half" idx="10"/>
          </p:nvPr>
        </p:nvSpPr>
        <p:spPr/>
        <p:txBody>
          <a:bodyPr/>
          <a:lstStyle/>
          <a:p>
            <a:fld id="{6BBEDEC2-4532-42E2-A609-63E30E058B4C}" type="datetime3">
              <a:rPr lang="en-IN" smtClean="0"/>
              <a:t>13 June 2025</a:t>
            </a:fld>
            <a:endParaRPr lang="en-IN"/>
          </a:p>
        </p:txBody>
      </p:sp>
      <p:sp>
        <p:nvSpPr>
          <p:cNvPr id="5" name="Footer Placeholder 4"/>
          <p:cNvSpPr>
            <a:spLocks noGrp="1"/>
          </p:cNvSpPr>
          <p:nvPr>
            <p:ph type="ftr" sz="quarter" idx="11"/>
          </p:nvPr>
        </p:nvSpPr>
        <p:spPr/>
        <p:txBody>
          <a:bodyPr/>
          <a:lstStyle/>
          <a:p>
            <a:r>
              <a:rPr lang="en-IN" smtClean="0"/>
              <a:t>In-Field Testing of DMB</a:t>
            </a:r>
            <a:endParaRPr lang="en-IN"/>
          </a:p>
        </p:txBody>
      </p:sp>
      <p:sp>
        <p:nvSpPr>
          <p:cNvPr id="6" name="Slide Number Placeholder 5"/>
          <p:cNvSpPr>
            <a:spLocks noGrp="1"/>
          </p:cNvSpPr>
          <p:nvPr>
            <p:ph type="sldNum" sz="quarter" idx="12"/>
          </p:nvPr>
        </p:nvSpPr>
        <p:spPr/>
        <p:txBody>
          <a:bodyPr/>
          <a:lstStyle/>
          <a:p>
            <a:fld id="{AF4D6369-262A-4935-8BA4-DEA08C81E600}" type="slidenum">
              <a:rPr lang="en-IN" smtClean="0"/>
              <a:t>27</a:t>
            </a:fld>
            <a:endParaRPr lang="en-IN"/>
          </a:p>
        </p:txBody>
      </p:sp>
      <p:sp>
        <p:nvSpPr>
          <p:cNvPr id="8" name="Title 1"/>
          <p:cNvSpPr>
            <a:spLocks noGrp="1"/>
          </p:cNvSpPr>
          <p:nvPr>
            <p:ph type="title"/>
          </p:nvPr>
        </p:nvSpPr>
        <p:spPr>
          <a:xfrm>
            <a:off x="0" y="1"/>
            <a:ext cx="12192000" cy="876300"/>
          </a:xfrm>
        </p:spPr>
        <p:txBody>
          <a:bodyPr>
            <a:normAutofit/>
          </a:bodyPr>
          <a:lstStyle/>
          <a:p>
            <a:pPr algn="ctr"/>
            <a:r>
              <a:rPr lang="en-US" sz="4000" b="1" dirty="0" smtClean="0"/>
              <a:t>References II</a:t>
            </a:r>
            <a:endParaRPr lang="en-IN" sz="4000" b="1" dirty="0"/>
          </a:p>
        </p:txBody>
      </p:sp>
    </p:spTree>
    <p:extLst>
      <p:ext uri="{BB962C8B-B14F-4D97-AF65-F5344CB8AC3E}">
        <p14:creationId xmlns:p14="http://schemas.microsoft.com/office/powerpoint/2010/main" val="257382868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1340</TotalTime>
  <Words>3299</Words>
  <Application>Microsoft Office PowerPoint</Application>
  <PresentationFormat>Widescreen</PresentationFormat>
  <Paragraphs>502</Paragraphs>
  <Slides>27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In-Field Testing of Digital Microfluidic Biochips using Multi-Agent Reinforcement Learning</vt:lpstr>
      <vt:lpstr>Presentation Overview</vt:lpstr>
      <vt:lpstr>Introduction to Digital Microfluidic Biochips</vt:lpstr>
      <vt:lpstr>DMB Testing</vt:lpstr>
      <vt:lpstr>Terminologies</vt:lpstr>
      <vt:lpstr>Problem Statement</vt:lpstr>
      <vt:lpstr>Literature Review: DMB Testing</vt:lpstr>
      <vt:lpstr>PowerPoint Presentation</vt:lpstr>
      <vt:lpstr>PowerPoint Presentation</vt:lpstr>
      <vt:lpstr>Background of Reinforcement Learning </vt:lpstr>
      <vt:lpstr>Q-Learning Algorithm</vt:lpstr>
      <vt:lpstr>Reinforcement Learning-Based In-Field Testing</vt:lpstr>
      <vt:lpstr>Training of a Single RL Agent</vt:lpstr>
      <vt:lpstr>Learning Curve Analysis</vt:lpstr>
      <vt:lpstr>Test Path Planning: SAT-Based vs Proposed Method</vt:lpstr>
      <vt:lpstr>Test Path Planning: SAT-Based vs Proposed Method</vt:lpstr>
      <vt:lpstr>Experimental Setup and Results I</vt:lpstr>
      <vt:lpstr>From Single-Agent Success to Multi-Agent Necessity</vt:lpstr>
      <vt:lpstr>Multi-Agent Extension</vt:lpstr>
      <vt:lpstr>Training of a Multiple RL Agent’s</vt:lpstr>
      <vt:lpstr>Multi-Agent Architecture</vt:lpstr>
      <vt:lpstr>PowerPoint Presentation</vt:lpstr>
      <vt:lpstr>Experimental Setup and Results II</vt:lpstr>
      <vt:lpstr>Conclusion</vt:lpstr>
      <vt:lpstr>Acknowledgements</vt:lpstr>
      <vt:lpstr>References I</vt:lpstr>
      <vt:lpstr>References II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In-Field Testing of Digital Microfluidic Biochips using Multi-Agent Reinforcement Learning</dc:title>
  <dc:creator>Ritik Koshta</dc:creator>
  <cp:lastModifiedBy>Ritik Koshta</cp:lastModifiedBy>
  <cp:revision>68</cp:revision>
  <dcterms:created xsi:type="dcterms:W3CDTF">2025-06-08T05:55:03Z</dcterms:created>
  <dcterms:modified xsi:type="dcterms:W3CDTF">2025-06-13T08:27:11Z</dcterms:modified>
</cp:coreProperties>
</file>